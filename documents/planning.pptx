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5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8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WA* h_add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Problem 1 (ms)</c:v>
                </c:pt>
                <c:pt idx="1">
                  <c:v>Problem 2 (ms)</c:v>
                </c:pt>
                <c:pt idx="2">
                  <c:v>Problem 3 (ds)</c:v>
                </c:pt>
              </c:strCache>
            </c:strRef>
          </c:cat>
          <c:val>
            <c:numRef>
              <c:f>Foglio1!$B$2:$B$4</c:f>
              <c:numCache>
                <c:formatCode>General</c:formatCode>
                <c:ptCount val="3"/>
                <c:pt idx="0">
                  <c:v>63</c:v>
                </c:pt>
                <c:pt idx="1">
                  <c:v>195</c:v>
                </c:pt>
                <c:pt idx="2">
                  <c:v>84.94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5D-4A95-B6D3-CCE5F9425CF2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WA* h_max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Problem 1 (ms)</c:v>
                </c:pt>
                <c:pt idx="1">
                  <c:v>Problem 2 (ms)</c:v>
                </c:pt>
                <c:pt idx="2">
                  <c:v>Problem 3 (ds)</c:v>
                </c:pt>
              </c:strCache>
            </c:strRef>
          </c:cat>
          <c:val>
            <c:numRef>
              <c:f>Foglio1!$C$2:$C$4</c:f>
              <c:numCache>
                <c:formatCode>General</c:formatCode>
                <c:ptCount val="3"/>
                <c:pt idx="0">
                  <c:v>74</c:v>
                </c:pt>
                <c:pt idx="1">
                  <c:v>925</c:v>
                </c:pt>
                <c:pt idx="2">
                  <c:v>390.47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F5D-4A95-B6D3-CCE5F9425CF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77270255"/>
        <c:axId val="677266895"/>
      </c:barChart>
      <c:catAx>
        <c:axId val="6772702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677266895"/>
        <c:crosses val="autoZero"/>
        <c:auto val="1"/>
        <c:lblAlgn val="ctr"/>
        <c:lblOffset val="100"/>
        <c:noMultiLvlLbl val="0"/>
      </c:catAx>
      <c:valAx>
        <c:axId val="677266895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6772702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6F5684-165C-ED2B-2F44-ECC4A4F599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B043A99-B0D5-989D-3ECD-6CD563AD3A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1CA953-262F-362C-E084-5D4DDBA6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CBA7AD4-AFFA-6E7E-076E-60A6C22CC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C76CC99-EB14-0742-3FAD-D236BF8B8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13416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89F51B-9838-98C5-3945-91187594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FFA563-1D52-F4DB-A18C-B8C0FA707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6B1D167-B09E-4171-0AA1-A46186E54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2D41CDE-7450-7C60-CF49-0F92C2E66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EF9D7E2-361D-271D-3B10-CF5157F6B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95233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FAF62A-7CD0-0B77-7B9C-E7B8A8E88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0AE3636-90AF-28E8-52C1-8A7568E8CE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236BF92-844C-AAD3-C64E-BEFD8943D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B4092F8-D73A-01C3-D336-78480C31D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5CB543F-94B4-1652-B4A6-161920BD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775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35CFE8-813B-6BA9-4A7D-F8755EC6A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31D12F-5F17-50FC-F83B-709D517E01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F9C56BC-7378-7159-E889-AC2D5D61C3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E52EE87-0FB9-7272-A592-F5DC11312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BF29533-90F9-B73F-80A6-557453E31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9F2B354-F13C-B560-449D-630541E6E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3757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2E8E9A-6ADF-07C2-DF9F-18BCF9E70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173EABB-5BD7-EA6B-01DB-C5A57DB66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2E2D897-FA4F-3C86-27B2-1ED8112AB5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24235102-3DFD-DD54-E372-605B6B6974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244FE67-1DB8-383F-A971-A536E89280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83C8AE79-DDEF-A339-8391-45E831E87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10305550-E05C-9BE4-7339-A1F921120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6BC06688-A015-F7FA-DF90-68B3B0CC6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70959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C47396-2299-19C0-C39D-3E9D117F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6DC78CC-78D8-7A11-8BB1-ECDA95C15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13ED834-17CC-DD61-3324-BACBC3567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6A52C0D-1046-78AA-D672-909462C1D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54696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2AB49CA5-2B87-347A-CEEC-11CAFC381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FD9185D-D91C-8568-B56D-84CE9663D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DCE5FCE-C894-F8F6-9A56-4FBD7EDC2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5953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6899464-4A33-F8C7-9931-19A83609C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738EB6-E63A-5ECF-D5DE-27B71EEFB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7D96091-03BC-588E-09DE-1D8E65268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020AFEA-3CD1-C9C3-9CCE-4343AAD80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667A065-D3F7-1443-2F23-4B6103F0C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CCAD753-614B-3B0D-EE61-74413D4F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586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6232BD0-5C10-F8D6-951D-A47752C60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8241C44-3584-F15E-22C0-CCA355893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E301E05-D4F7-C017-6F11-EFCAA652CA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CDE8352-38DD-5379-1E25-5089FDBD0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515904F-71FC-91CD-FA32-15B83EE79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1CBB7F1-068F-14DF-4E4C-5042AC0D9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36318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DCC135-ABBC-B0E0-1FD3-B2C9CA06D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54D2FB2-A58F-D59A-D6D5-AB774E2CF7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6FB4C3B-9D36-C3E0-6A53-2FEFE9F2C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41AE5E0-1A5F-5A4C-01CB-C733B0FCB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C0706D-DF97-63E1-B57C-0603C0F0F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5340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BA67CB28-7EDA-027B-DB9C-416916A740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4DC1145-71D2-C9BE-E304-DAF93B2F11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A9AB012-A5E3-6CE2-1874-14621E277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A617C2-1B9C-9304-2284-8E10EDFEE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4AF0174-00E6-1FAA-6DA9-B41707E4E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04163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EDFED4-5F9A-269F-9381-E1E7028BF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CE1B115-1952-A4D1-811C-21B93BD46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3F21508-2D48-0A3F-1F30-B941543D63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2833DC-C397-F9FE-40AF-F131B73F0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9897650-AC7C-D595-F390-E4358C34A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10325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954327-14C9-F821-9D6A-6E22EB0465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Taxi Planning	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88A517E-E114-CE96-6F12-4465D57E0C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Giovanni Di Nola 1894682</a:t>
            </a:r>
          </a:p>
          <a:p>
            <a:r>
              <a:rPr lang="en-US" dirty="0"/>
              <a:t>Serena Ragaglia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12352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6A9CD77-37B0-BC16-912D-110178DEC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Domain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0DFEA76-4651-9303-6886-52F1DB200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goal is to manage the movement of a taxi in a map of interconnected location, handling traffic, clients’ requests and battery level.</a:t>
            </a:r>
          </a:p>
          <a:p>
            <a:pPr marL="0" indent="0">
              <a:buNone/>
            </a:pPr>
            <a:r>
              <a:rPr lang="en-US" dirty="0"/>
              <a:t>Clients are in a location and have an active request to reach a destination. The taxi has to reach the location, pick up the client, reach the location and drop him off. </a:t>
            </a:r>
          </a:p>
          <a:p>
            <a:pPr marL="0" indent="0">
              <a:buNone/>
            </a:pPr>
            <a:r>
              <a:rPr lang="en-US" dirty="0"/>
              <a:t>The taxi has limited battery, that can be recharged by reaching a recharge station, a specific type of location.</a:t>
            </a:r>
          </a:p>
          <a:p>
            <a:pPr marL="0" indent="0">
              <a:buNone/>
            </a:pPr>
            <a:r>
              <a:rPr lang="en-US" dirty="0"/>
              <a:t>Traffic lights and congestions increase the cost of crossing specific locations and roads.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7796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745B820-4CD0-9552-EEDE-708493B34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PDDL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4D31D9-02E3-7E1E-7D86-0606855E0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b="1" dirty="0"/>
              <a:t>(road ?l1 ?l2 –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there is a direct road connection from location `?l1` to location `?l2`. This represents the physical infrastructure allowing the taxi to travel between two locations.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trafficLight</a:t>
            </a:r>
            <a:r>
              <a:rPr lang="en-US" b="1" dirty="0"/>
              <a:t> ?l1 ?l2 -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there is a traffic light controlling the road from location `?l1` to location `?l2`. The taxi must check the light color before passing through.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lightColor</a:t>
            </a:r>
            <a:r>
              <a:rPr lang="en-US" b="1" dirty="0"/>
              <a:t> ?c - color ?l1 ?l2 -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Specifies the current color `?c` of the traffic light on the road from `?l1` to `?l2`. Used to determine if the taxi can proceed through a traffic light.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taxiAt</a:t>
            </a:r>
            <a:r>
              <a:rPr lang="en-US" b="1" dirty="0"/>
              <a:t> ?l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the current location of the taxi. The taxi can only be at one location at a time.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4663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E0BF6F-EBFB-9174-FFDC-6AC57E022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0664" y="755776"/>
            <a:ext cx="10710672" cy="6038215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(</a:t>
            </a:r>
            <a:r>
              <a:rPr lang="en-US" b="1" dirty="0" err="1"/>
              <a:t>passengerAt</a:t>
            </a:r>
            <a:r>
              <a:rPr lang="en-US" b="1" dirty="0"/>
              <a:t> ?p - passenger ?l - location)`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passenger `?p` is currently at location `?l`. Used to track passenger positions when they are not in the taxi.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requestTo</a:t>
            </a:r>
            <a:r>
              <a:rPr lang="en-US" b="1" dirty="0"/>
              <a:t> ?p - passenger ?l - location)`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passenger `?p` has requested transportation to location `?l`. This represents the passenger's desired destination.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onTaxi</a:t>
            </a:r>
            <a:r>
              <a:rPr lang="en-US" b="1" dirty="0"/>
              <a:t> ?p - passenger)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passenger `?p` is currently riding in the taxi. Only one passenger can be in the taxi at a time in this domain.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(congested ?l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location `?l` is congested (high traffic). Travel costs are increased when entering congested locations.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chargeStation</a:t>
            </a:r>
            <a:r>
              <a:rPr lang="en-US" b="1" dirty="0"/>
              <a:t> ?l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location `?l` has a charging station where the taxi can recharge its battery.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02311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647321-4305-0B6D-F19C-D79AF64C3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7616" y="0"/>
            <a:ext cx="10515600" cy="1325563"/>
          </a:xfrm>
        </p:spPr>
        <p:txBody>
          <a:bodyPr/>
          <a:lstStyle/>
          <a:p>
            <a:r>
              <a:rPr lang="en-US" dirty="0"/>
              <a:t>Actions </a:t>
            </a:r>
            <a:endParaRPr lang="it-IT" dirty="0"/>
          </a:p>
        </p:txBody>
      </p:sp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1777880D-A3ED-9AC3-157B-16062ED763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0075035"/>
              </p:ext>
            </p:extLst>
          </p:nvPr>
        </p:nvGraphicFramePr>
        <p:xfrm>
          <a:off x="737616" y="1203832"/>
          <a:ext cx="11012424" cy="53158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259110098"/>
                    </a:ext>
                  </a:extLst>
                </a:gridCol>
                <a:gridCol w="4335489">
                  <a:extLst>
                    <a:ext uri="{9D8B030D-6E8A-4147-A177-3AD203B41FA5}">
                      <a16:colId xmlns:a16="http://schemas.microsoft.com/office/drawing/2014/main" val="3078254791"/>
                    </a:ext>
                  </a:extLst>
                </a:gridCol>
                <a:gridCol w="4543335">
                  <a:extLst>
                    <a:ext uri="{9D8B030D-6E8A-4147-A177-3AD203B41FA5}">
                      <a16:colId xmlns:a16="http://schemas.microsoft.com/office/drawing/2014/main" val="2949227315"/>
                    </a:ext>
                  </a:extLst>
                </a:gridCol>
              </a:tblGrid>
              <a:tr h="1502215">
                <a:tc>
                  <a:txBody>
                    <a:bodyPr/>
                    <a:lstStyle/>
                    <a:p>
                      <a:r>
                        <a:rPr lang="en-US" dirty="0"/>
                        <a:t>Move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(?l1 ?l2 - location)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Taxi must be at location ?l1.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road must exist from ?l1 to ?l2.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Battery level must be sufficient to cover the distance.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there's a traffic light, it must be green.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Taxi is now at location ?l2 (no longer at ?l1).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Battery level decreases by distance × cost-per-distance.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?l2 is congested: total cost increases by distance × 5.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?l2 is not congested: total cost increases by distance.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there was a green traffic light: it switches to red.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541019"/>
                  </a:ext>
                </a:extLst>
              </a:tr>
              <a:tr h="19068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switchLight</a:t>
                      </a:r>
                      <a:endParaRPr lang="it-IT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(?l1 ?l2 - location)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traffic light must exist between ?l1 and ?l2.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light must currently be red.</a:t>
                      </a:r>
                    </a:p>
                    <a:p>
                      <a:endParaRPr lang="it-IT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Light color changes from red to green.</a:t>
                      </a:r>
                    </a:p>
                    <a:p>
                      <a:r>
                        <a:rPr lang="en-US" sz="1400" dirty="0"/>
                        <a:t>Total cost increases by 3.</a:t>
                      </a:r>
                      <a:endParaRPr lang="it-IT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616914"/>
                  </a:ext>
                </a:extLst>
              </a:tr>
              <a:tr h="1906813">
                <a:tc>
                  <a:txBody>
                    <a:bodyPr/>
                    <a:lstStyle/>
                    <a:p>
                      <a:r>
                        <a:rPr lang="en-US" b="1" dirty="0"/>
                        <a:t>Recharge</a:t>
                      </a:r>
                      <a:endParaRPr lang="en-US" b="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(?l - location)</a:t>
                      </a:r>
                    </a:p>
                    <a:p>
                      <a:endParaRPr lang="it-IT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Location ?l must have a charging station.</a:t>
                      </a:r>
                    </a:p>
                    <a:p>
                      <a:r>
                        <a:rPr lang="en-US" sz="1400" dirty="0"/>
                        <a:t>Taxi must be at location ?l.</a:t>
                      </a:r>
                    </a:p>
                    <a:p>
                      <a:r>
                        <a:rPr lang="en-US" sz="1400" dirty="0"/>
                        <a:t>Battery level must be less than 100.</a:t>
                      </a:r>
                      <a:endParaRPr lang="it-IT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Battery level is set to 100.</a:t>
                      </a:r>
                    </a:p>
                    <a:p>
                      <a:r>
                        <a:rPr lang="en-US" sz="1400" dirty="0"/>
                        <a:t>Total cost increases by 10.</a:t>
                      </a:r>
                      <a:endParaRPr lang="it-IT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7944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146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6EEE215A-7876-F211-5033-FB94821DC2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74203874"/>
              </p:ext>
            </p:extLst>
          </p:nvPr>
        </p:nvGraphicFramePr>
        <p:xfrm>
          <a:off x="838200" y="1389888"/>
          <a:ext cx="10515597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9320">
                  <a:extLst>
                    <a:ext uri="{9D8B030D-6E8A-4147-A177-3AD203B41FA5}">
                      <a16:colId xmlns:a16="http://schemas.microsoft.com/office/drawing/2014/main" val="1309879524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890592002"/>
                    </a:ext>
                  </a:extLst>
                </a:gridCol>
                <a:gridCol w="4148325">
                  <a:extLst>
                    <a:ext uri="{9D8B030D-6E8A-4147-A177-3AD203B41FA5}">
                      <a16:colId xmlns:a16="http://schemas.microsoft.com/office/drawing/2014/main" val="2696494757"/>
                    </a:ext>
                  </a:extLst>
                </a:gridCol>
              </a:tblGrid>
              <a:tr h="1461523">
                <a:tc>
                  <a:txBody>
                    <a:bodyPr/>
                    <a:lstStyle/>
                    <a:p>
                      <a:r>
                        <a:rPr lang="en-US" dirty="0" err="1"/>
                        <a:t>pickUp</a:t>
                      </a: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(?p - </a:t>
                      </a:r>
                      <a:r>
                        <a:rPr lang="it-IT" sz="1800" b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passenger</a:t>
                      </a:r>
                      <a:r>
                        <a:rPr lang="it-IT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?l - location)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Passenger ?p must be at location ?l.</a:t>
                      </a:r>
                    </a:p>
                    <a:p>
                      <a:r>
                        <a:rPr lang="en-US" sz="1400" b="0" dirty="0"/>
                        <a:t>Taxi must be at location ?l.</a:t>
                      </a:r>
                    </a:p>
                    <a:p>
                      <a:r>
                        <a:rPr lang="en-US" sz="1400" b="0" dirty="0"/>
                        <a:t>Passenger must have an active request.</a:t>
                      </a:r>
                    </a:p>
                    <a:p>
                      <a:r>
                        <a:rPr lang="en-US" sz="1400" b="0" dirty="0"/>
                        <a:t>No other passenger can be in the taxi.</a:t>
                      </a:r>
                      <a:endParaRPr lang="it-IT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Passenger is no longer at location ?l.</a:t>
                      </a:r>
                    </a:p>
                    <a:p>
                      <a:r>
                        <a:rPr lang="en-US" sz="1400" b="0" dirty="0"/>
                        <a:t>Passenger is now on the taxi.</a:t>
                      </a:r>
                      <a:endParaRPr lang="it-IT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419501"/>
                  </a:ext>
                </a:extLst>
              </a:tr>
              <a:tr h="1464557">
                <a:tc>
                  <a:txBody>
                    <a:bodyPr/>
                    <a:lstStyle/>
                    <a:p>
                      <a:r>
                        <a:rPr lang="en-US" b="1" dirty="0" err="1"/>
                        <a:t>getOff</a:t>
                      </a:r>
                      <a:endParaRPr lang="en-US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(?p - </a:t>
                      </a:r>
                      <a:r>
                        <a:rPr lang="it-IT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passenger</a:t>
                      </a:r>
                      <a:r>
                        <a:rPr lang="it-IT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?l - location)</a:t>
                      </a:r>
                    </a:p>
                    <a:p>
                      <a:endParaRPr lang="it-IT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Passenger ?p must be on the taxi.</a:t>
                      </a:r>
                    </a:p>
                    <a:p>
                      <a:r>
                        <a:rPr lang="en-US" sz="1400" dirty="0"/>
                        <a:t>Taxi must be at location ?l.</a:t>
                      </a:r>
                    </a:p>
                    <a:p>
                      <a:r>
                        <a:rPr lang="en-US" sz="1400" dirty="0"/>
                        <a:t>Location ?l must be the passenger’s requested destination.</a:t>
                      </a:r>
                      <a:endParaRPr lang="it-IT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Passenger is no longer on the taxi.</a:t>
                      </a:r>
                    </a:p>
                    <a:p>
                      <a:r>
                        <a:rPr lang="en-US" sz="1400" dirty="0"/>
                        <a:t>Passenger is now at location ?l.</a:t>
                      </a:r>
                    </a:p>
                    <a:p>
                      <a:r>
                        <a:rPr lang="en-US" sz="1400" dirty="0"/>
                        <a:t>Passenger's request to location ?l is fulfilled.</a:t>
                      </a:r>
                      <a:endParaRPr lang="it-IT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77394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7345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05CB6E-C424-8430-3326-4E11BA65F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83CB00-89D7-07DE-B468-CCFD78146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the problem files the various initial states change based on:</a:t>
            </a:r>
          </a:p>
          <a:p>
            <a:r>
              <a:rPr lang="en-US" dirty="0"/>
              <a:t>Number of locations</a:t>
            </a:r>
          </a:p>
          <a:p>
            <a:r>
              <a:rPr lang="en-US" dirty="0"/>
              <a:t>Number of requests</a:t>
            </a:r>
          </a:p>
          <a:p>
            <a:r>
              <a:rPr lang="en-US" dirty="0"/>
              <a:t>Presence of congested roads</a:t>
            </a:r>
          </a:p>
          <a:p>
            <a:r>
              <a:rPr lang="en-US" dirty="0"/>
              <a:t>Presence of traffic lights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9774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Immagine 42" descr="Immagine che contiene testo, diagramma, linea, Piano&#10;&#10;Il contenuto generato dall'IA potrebbe non essere corretto.">
            <a:extLst>
              <a:ext uri="{FF2B5EF4-FFF2-40B4-BE49-F238E27FC236}">
                <a16:creationId xmlns:a16="http://schemas.microsoft.com/office/drawing/2014/main" id="{B11B548F-DB28-6F72-B959-035D196D4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6186" y="314325"/>
            <a:ext cx="3552825" cy="6229350"/>
          </a:xfrm>
          <a:prstGeom prst="rect">
            <a:avLst/>
          </a:prstGeom>
        </p:spPr>
      </p:pic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0C1F496E-E245-F19C-4B17-32356DB047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3310458"/>
              </p:ext>
            </p:extLst>
          </p:nvPr>
        </p:nvGraphicFramePr>
        <p:xfrm>
          <a:off x="143256" y="1512480"/>
          <a:ext cx="8684126" cy="383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3503">
                  <a:extLst>
                    <a:ext uri="{9D8B030D-6E8A-4147-A177-3AD203B41FA5}">
                      <a16:colId xmlns:a16="http://schemas.microsoft.com/office/drawing/2014/main" val="2396994079"/>
                    </a:ext>
                  </a:extLst>
                </a:gridCol>
                <a:gridCol w="833781">
                  <a:extLst>
                    <a:ext uri="{9D8B030D-6E8A-4147-A177-3AD203B41FA5}">
                      <a16:colId xmlns:a16="http://schemas.microsoft.com/office/drawing/2014/main" val="3638045138"/>
                    </a:ext>
                  </a:extLst>
                </a:gridCol>
                <a:gridCol w="802105">
                  <a:extLst>
                    <a:ext uri="{9D8B030D-6E8A-4147-A177-3AD203B41FA5}">
                      <a16:colId xmlns:a16="http://schemas.microsoft.com/office/drawing/2014/main" val="1042304227"/>
                    </a:ext>
                  </a:extLst>
                </a:gridCol>
                <a:gridCol w="1074821">
                  <a:extLst>
                    <a:ext uri="{9D8B030D-6E8A-4147-A177-3AD203B41FA5}">
                      <a16:colId xmlns:a16="http://schemas.microsoft.com/office/drawing/2014/main" val="679142915"/>
                    </a:ext>
                  </a:extLst>
                </a:gridCol>
                <a:gridCol w="1058779">
                  <a:extLst>
                    <a:ext uri="{9D8B030D-6E8A-4147-A177-3AD203B41FA5}">
                      <a16:colId xmlns:a16="http://schemas.microsoft.com/office/drawing/2014/main" val="2583295718"/>
                    </a:ext>
                  </a:extLst>
                </a:gridCol>
                <a:gridCol w="962526">
                  <a:extLst>
                    <a:ext uri="{9D8B030D-6E8A-4147-A177-3AD203B41FA5}">
                      <a16:colId xmlns:a16="http://schemas.microsoft.com/office/drawing/2014/main" val="3951846501"/>
                    </a:ext>
                  </a:extLst>
                </a:gridCol>
                <a:gridCol w="1203158">
                  <a:extLst>
                    <a:ext uri="{9D8B030D-6E8A-4147-A177-3AD203B41FA5}">
                      <a16:colId xmlns:a16="http://schemas.microsoft.com/office/drawing/2014/main" val="1477418520"/>
                    </a:ext>
                  </a:extLst>
                </a:gridCol>
                <a:gridCol w="1315453">
                  <a:extLst>
                    <a:ext uri="{9D8B030D-6E8A-4147-A177-3AD203B41FA5}">
                      <a16:colId xmlns:a16="http://schemas.microsoft.com/office/drawing/2014/main" val="1028579839"/>
                    </a:ext>
                  </a:extLst>
                </a:gridCol>
              </a:tblGrid>
              <a:tr h="818920">
                <a:tc>
                  <a:txBody>
                    <a:bodyPr/>
                    <a:lstStyle/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 length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Metric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Planning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Heuristic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Search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Expanded</a:t>
                      </a:r>
                      <a:r>
                        <a:rPr lang="it-IT" sz="1600" dirty="0"/>
                        <a:t> </a:t>
                      </a:r>
                      <a:r>
                        <a:rPr lang="it-IT" sz="1600" dirty="0" err="1"/>
                        <a:t>Nodes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States </a:t>
                      </a:r>
                      <a:r>
                        <a:rPr lang="it-IT" sz="1600" dirty="0" err="1"/>
                        <a:t>Evaluated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7622544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288.0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81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72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264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322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400105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288.0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76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28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71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264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322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301184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288.0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171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77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156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313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422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543526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216.0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59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37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91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1646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216.0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29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69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143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278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5958350"/>
                  </a:ext>
                </a:extLst>
              </a:tr>
            </a:tbl>
          </a:graphicData>
        </a:graphic>
      </p:graphicFrame>
      <p:sp>
        <p:nvSpPr>
          <p:cNvPr id="3" name="CasellaDiTesto 2">
            <a:extLst>
              <a:ext uri="{FF2B5EF4-FFF2-40B4-BE49-F238E27FC236}">
                <a16:creationId xmlns:a16="http://schemas.microsoft.com/office/drawing/2014/main" id="{1719B6E2-24D8-B477-3AEC-0A3AC721BE26}"/>
              </a:ext>
            </a:extLst>
          </p:cNvPr>
          <p:cNvSpPr txBox="1"/>
          <p:nvPr/>
        </p:nvSpPr>
        <p:spPr>
          <a:xfrm>
            <a:off x="143256" y="304800"/>
            <a:ext cx="765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Problem 1</a:t>
            </a:r>
            <a:endParaRPr lang="it-IT" sz="4000" dirty="0"/>
          </a:p>
        </p:txBody>
      </p:sp>
    </p:spTree>
    <p:extLst>
      <p:ext uri="{BB962C8B-B14F-4D97-AF65-F5344CB8AC3E}">
        <p14:creationId xmlns:p14="http://schemas.microsoft.com/office/powerpoint/2010/main" val="580025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mappa&#10;&#10;Il contenuto generato dall'IA potrebbe non essere corretto.">
            <a:extLst>
              <a:ext uri="{FF2B5EF4-FFF2-40B4-BE49-F238E27FC236}">
                <a16:creationId xmlns:a16="http://schemas.microsoft.com/office/drawing/2014/main" id="{BCF1A29E-6EFA-18D4-85B0-EBD210F647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4338" y="1155715"/>
            <a:ext cx="3174406" cy="4546570"/>
          </a:xfrm>
          <a:prstGeom prst="rect">
            <a:avLst/>
          </a:prstGeom>
        </p:spPr>
      </p:pic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D2BF2872-9BFF-8283-8E98-9A78A58354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167094"/>
              </p:ext>
            </p:extLst>
          </p:nvPr>
        </p:nvGraphicFramePr>
        <p:xfrm>
          <a:off x="143256" y="1512480"/>
          <a:ext cx="8684126" cy="383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3503">
                  <a:extLst>
                    <a:ext uri="{9D8B030D-6E8A-4147-A177-3AD203B41FA5}">
                      <a16:colId xmlns:a16="http://schemas.microsoft.com/office/drawing/2014/main" val="3436999193"/>
                    </a:ext>
                  </a:extLst>
                </a:gridCol>
                <a:gridCol w="833781">
                  <a:extLst>
                    <a:ext uri="{9D8B030D-6E8A-4147-A177-3AD203B41FA5}">
                      <a16:colId xmlns:a16="http://schemas.microsoft.com/office/drawing/2014/main" val="3212636040"/>
                    </a:ext>
                  </a:extLst>
                </a:gridCol>
                <a:gridCol w="802105">
                  <a:extLst>
                    <a:ext uri="{9D8B030D-6E8A-4147-A177-3AD203B41FA5}">
                      <a16:colId xmlns:a16="http://schemas.microsoft.com/office/drawing/2014/main" val="3341082302"/>
                    </a:ext>
                  </a:extLst>
                </a:gridCol>
                <a:gridCol w="1074821">
                  <a:extLst>
                    <a:ext uri="{9D8B030D-6E8A-4147-A177-3AD203B41FA5}">
                      <a16:colId xmlns:a16="http://schemas.microsoft.com/office/drawing/2014/main" val="74858055"/>
                    </a:ext>
                  </a:extLst>
                </a:gridCol>
                <a:gridCol w="1058779">
                  <a:extLst>
                    <a:ext uri="{9D8B030D-6E8A-4147-A177-3AD203B41FA5}">
                      <a16:colId xmlns:a16="http://schemas.microsoft.com/office/drawing/2014/main" val="3862956006"/>
                    </a:ext>
                  </a:extLst>
                </a:gridCol>
                <a:gridCol w="962526">
                  <a:extLst>
                    <a:ext uri="{9D8B030D-6E8A-4147-A177-3AD203B41FA5}">
                      <a16:colId xmlns:a16="http://schemas.microsoft.com/office/drawing/2014/main" val="2356637031"/>
                    </a:ext>
                  </a:extLst>
                </a:gridCol>
                <a:gridCol w="1203158">
                  <a:extLst>
                    <a:ext uri="{9D8B030D-6E8A-4147-A177-3AD203B41FA5}">
                      <a16:colId xmlns:a16="http://schemas.microsoft.com/office/drawing/2014/main" val="3293653308"/>
                    </a:ext>
                  </a:extLst>
                </a:gridCol>
                <a:gridCol w="1315453">
                  <a:extLst>
                    <a:ext uri="{9D8B030D-6E8A-4147-A177-3AD203B41FA5}">
                      <a16:colId xmlns:a16="http://schemas.microsoft.com/office/drawing/2014/main" val="1572746340"/>
                    </a:ext>
                  </a:extLst>
                </a:gridCol>
              </a:tblGrid>
              <a:tr h="818920">
                <a:tc>
                  <a:txBody>
                    <a:bodyPr/>
                    <a:lstStyle/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 length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Metric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Planning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Heuristic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Search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Expanded</a:t>
                      </a:r>
                      <a:r>
                        <a:rPr lang="it-IT" sz="1600" dirty="0"/>
                        <a:t> </a:t>
                      </a:r>
                      <a:r>
                        <a:rPr lang="it-IT" sz="1600" dirty="0" err="1"/>
                        <a:t>Nodes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States </a:t>
                      </a:r>
                      <a:r>
                        <a:rPr lang="it-IT" sz="1600" dirty="0" err="1"/>
                        <a:t>Evaluated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9786176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45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888.0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223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151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217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1063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2113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7867775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45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888.0</a:t>
                      </a:r>
                      <a:endParaRPr lang="it-IT" sz="1600" dirty="0"/>
                    </a:p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116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1063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2113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514150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53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966.0</a:t>
                      </a:r>
                      <a:endParaRPr lang="it-IT" sz="1600" dirty="0"/>
                    </a:p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1031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794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794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1023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14814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41581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614.0</a:t>
                      </a:r>
                      <a:endParaRPr lang="it-IT" sz="1600" dirty="0"/>
                    </a:p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122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653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1503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8735301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27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526.0</a:t>
                      </a:r>
                      <a:endParaRPr lang="it-IT" sz="1600" dirty="0"/>
                    </a:p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925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606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920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12742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15640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478004"/>
                  </a:ext>
                </a:extLst>
              </a:tr>
            </a:tbl>
          </a:graphicData>
        </a:graphic>
      </p:graphicFrame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6C7010-AECF-E8E6-891D-E80C084C8D73}"/>
              </a:ext>
            </a:extLst>
          </p:cNvPr>
          <p:cNvSpPr txBox="1"/>
          <p:nvPr/>
        </p:nvSpPr>
        <p:spPr>
          <a:xfrm>
            <a:off x="143256" y="304800"/>
            <a:ext cx="765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Problem 2</a:t>
            </a:r>
            <a:endParaRPr lang="it-IT" sz="4000" dirty="0"/>
          </a:p>
        </p:txBody>
      </p:sp>
    </p:spTree>
    <p:extLst>
      <p:ext uri="{BB962C8B-B14F-4D97-AF65-F5344CB8AC3E}">
        <p14:creationId xmlns:p14="http://schemas.microsoft.com/office/powerpoint/2010/main" val="2052336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Carattere&#10;&#10;Il contenuto generato dall'IA potrebbe non essere corretto.">
            <a:extLst>
              <a:ext uri="{FF2B5EF4-FFF2-40B4-BE49-F238E27FC236}">
                <a16:creationId xmlns:a16="http://schemas.microsoft.com/office/drawing/2014/main" id="{DBE6B766-9A33-A7B2-B07F-5DA402E6FE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4943" y="1187635"/>
            <a:ext cx="3277057" cy="4482730"/>
          </a:xfrm>
          <a:prstGeom prst="rect">
            <a:avLst/>
          </a:prstGeom>
        </p:spPr>
      </p:pic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B623B2E8-320C-2554-D6C1-C87E77260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990771"/>
              </p:ext>
            </p:extLst>
          </p:nvPr>
        </p:nvGraphicFramePr>
        <p:xfrm>
          <a:off x="143256" y="1512480"/>
          <a:ext cx="8684126" cy="383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3503">
                  <a:extLst>
                    <a:ext uri="{9D8B030D-6E8A-4147-A177-3AD203B41FA5}">
                      <a16:colId xmlns:a16="http://schemas.microsoft.com/office/drawing/2014/main" val="3436999193"/>
                    </a:ext>
                  </a:extLst>
                </a:gridCol>
                <a:gridCol w="833781">
                  <a:extLst>
                    <a:ext uri="{9D8B030D-6E8A-4147-A177-3AD203B41FA5}">
                      <a16:colId xmlns:a16="http://schemas.microsoft.com/office/drawing/2014/main" val="3212636040"/>
                    </a:ext>
                  </a:extLst>
                </a:gridCol>
                <a:gridCol w="802105">
                  <a:extLst>
                    <a:ext uri="{9D8B030D-6E8A-4147-A177-3AD203B41FA5}">
                      <a16:colId xmlns:a16="http://schemas.microsoft.com/office/drawing/2014/main" val="3341082302"/>
                    </a:ext>
                  </a:extLst>
                </a:gridCol>
                <a:gridCol w="1074821">
                  <a:extLst>
                    <a:ext uri="{9D8B030D-6E8A-4147-A177-3AD203B41FA5}">
                      <a16:colId xmlns:a16="http://schemas.microsoft.com/office/drawing/2014/main" val="74858055"/>
                    </a:ext>
                  </a:extLst>
                </a:gridCol>
                <a:gridCol w="1058779">
                  <a:extLst>
                    <a:ext uri="{9D8B030D-6E8A-4147-A177-3AD203B41FA5}">
                      <a16:colId xmlns:a16="http://schemas.microsoft.com/office/drawing/2014/main" val="3862956006"/>
                    </a:ext>
                  </a:extLst>
                </a:gridCol>
                <a:gridCol w="962526">
                  <a:extLst>
                    <a:ext uri="{9D8B030D-6E8A-4147-A177-3AD203B41FA5}">
                      <a16:colId xmlns:a16="http://schemas.microsoft.com/office/drawing/2014/main" val="2356637031"/>
                    </a:ext>
                  </a:extLst>
                </a:gridCol>
                <a:gridCol w="1203158">
                  <a:extLst>
                    <a:ext uri="{9D8B030D-6E8A-4147-A177-3AD203B41FA5}">
                      <a16:colId xmlns:a16="http://schemas.microsoft.com/office/drawing/2014/main" val="3293653308"/>
                    </a:ext>
                  </a:extLst>
                </a:gridCol>
                <a:gridCol w="1315453">
                  <a:extLst>
                    <a:ext uri="{9D8B030D-6E8A-4147-A177-3AD203B41FA5}">
                      <a16:colId xmlns:a16="http://schemas.microsoft.com/office/drawing/2014/main" val="1572746340"/>
                    </a:ext>
                  </a:extLst>
                </a:gridCol>
              </a:tblGrid>
              <a:tr h="818920">
                <a:tc>
                  <a:txBody>
                    <a:bodyPr/>
                    <a:lstStyle/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 length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Metric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Planning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Heuristic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Search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Expanded</a:t>
                      </a:r>
                      <a:r>
                        <a:rPr lang="it-IT" sz="1600" dirty="0"/>
                        <a:t> </a:t>
                      </a:r>
                      <a:r>
                        <a:rPr lang="it-IT" sz="1600" dirty="0" err="1"/>
                        <a:t>Nodes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States </a:t>
                      </a:r>
                      <a:r>
                        <a:rPr lang="it-IT" sz="1600" dirty="0" err="1"/>
                        <a:t>Evaluated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9786176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1648.0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14943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12987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14939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250202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401887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7867775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1648.0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15443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13029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15438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250202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401887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514150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1616.0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250125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211018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250121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4910931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7168511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41581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39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779.0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8494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7117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8490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118341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211332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8735301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674.0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39047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30356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39040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741790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935732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478004"/>
                  </a:ext>
                </a:extLst>
              </a:tr>
            </a:tbl>
          </a:graphicData>
        </a:graphic>
      </p:graphicFrame>
      <p:sp>
        <p:nvSpPr>
          <p:cNvPr id="4" name="CasellaDiTesto 3">
            <a:extLst>
              <a:ext uri="{FF2B5EF4-FFF2-40B4-BE49-F238E27FC236}">
                <a16:creationId xmlns:a16="http://schemas.microsoft.com/office/drawing/2014/main" id="{1E4CBB9D-0818-C2B2-DBB1-500BE3BEA049}"/>
              </a:ext>
            </a:extLst>
          </p:cNvPr>
          <p:cNvSpPr txBox="1"/>
          <p:nvPr/>
        </p:nvSpPr>
        <p:spPr>
          <a:xfrm>
            <a:off x="143256" y="304800"/>
            <a:ext cx="765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Problem 3</a:t>
            </a:r>
            <a:endParaRPr lang="it-IT" sz="4000" dirty="0"/>
          </a:p>
        </p:txBody>
      </p:sp>
    </p:spTree>
    <p:extLst>
      <p:ext uri="{BB962C8B-B14F-4D97-AF65-F5344CB8AC3E}">
        <p14:creationId xmlns:p14="http://schemas.microsoft.com/office/powerpoint/2010/main" val="209481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3BA231-4E2D-3BA4-8357-2318AD89F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h_add and h_max</a:t>
            </a:r>
            <a:endParaRPr lang="it-IT" dirty="0"/>
          </a:p>
        </p:txBody>
      </p:sp>
      <p:graphicFrame>
        <p:nvGraphicFramePr>
          <p:cNvPr id="13" name="Segnaposto contenuto 12">
            <a:extLst>
              <a:ext uri="{FF2B5EF4-FFF2-40B4-BE49-F238E27FC236}">
                <a16:creationId xmlns:a16="http://schemas.microsoft.com/office/drawing/2014/main" id="{33EEFBC1-4264-AD15-D89A-4BCA081A9A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398721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10312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5A40E97-87F4-2FB3-3C7D-55C1FF7A8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1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20E5EBC-7814-19B8-BB78-08315D674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1829342-97EA-A335-5552-035BD98DF18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(move office park1)</a:t>
            </a:r>
          </a:p>
          <a:p>
            <a:pPr marL="0" indent="0">
              <a:buNone/>
            </a:pPr>
            <a:r>
              <a:rPr lang="en-US" dirty="0"/>
              <a:t>(move park1 restaurant)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 p1 restaurant)</a:t>
            </a:r>
          </a:p>
          <a:p>
            <a:pPr marL="0" indent="0">
              <a:buNone/>
            </a:pPr>
            <a:r>
              <a:rPr lang="en-US" dirty="0"/>
              <a:t>(move restaurant school)</a:t>
            </a:r>
          </a:p>
          <a:p>
            <a:pPr marL="0" indent="0">
              <a:buNone/>
            </a:pPr>
            <a:r>
              <a:rPr lang="en-US" dirty="0"/>
              <a:t>(move school park2)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 p1 park2)</a:t>
            </a:r>
          </a:p>
          <a:p>
            <a:pPr marL="0" indent="0">
              <a:buNone/>
            </a:pPr>
            <a:r>
              <a:rPr lang="en-US" dirty="0"/>
              <a:t>(move park2 school)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 p2 school)</a:t>
            </a:r>
          </a:p>
          <a:p>
            <a:pPr marL="0" indent="0">
              <a:buNone/>
            </a:pPr>
            <a:r>
              <a:rPr lang="en-US" dirty="0"/>
              <a:t>(move school park2)</a:t>
            </a:r>
          </a:p>
          <a:p>
            <a:pPr marL="0" indent="0">
              <a:buNone/>
            </a:pPr>
            <a:r>
              <a:rPr lang="en-US" dirty="0"/>
              <a:t>(move park2 office)</a:t>
            </a:r>
          </a:p>
          <a:p>
            <a:pPr marL="0" indent="0">
              <a:buNone/>
            </a:pPr>
            <a:r>
              <a:rPr lang="en-US" dirty="0"/>
              <a:t> (</a:t>
            </a:r>
            <a:r>
              <a:rPr lang="en-US" dirty="0" err="1"/>
              <a:t>getOff</a:t>
            </a:r>
            <a:r>
              <a:rPr lang="en-US" dirty="0"/>
              <a:t> p2 office)</a:t>
            </a:r>
            <a:endParaRPr lang="it-IT" dirty="0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932E6D7-BB05-D606-FC9B-6CC4D5CF6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WA* h_max</a:t>
            </a:r>
            <a:endParaRPr lang="it-IT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74E4D1B-BD5E-17F2-69FE-DF569CA8E38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(move office park1)</a:t>
            </a:r>
          </a:p>
          <a:p>
            <a:pPr marL="0" indent="0">
              <a:buNone/>
            </a:pPr>
            <a:r>
              <a:rPr lang="en-US" dirty="0"/>
              <a:t>(move park1 restaurant)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 p1 restaurant)</a:t>
            </a:r>
          </a:p>
          <a:p>
            <a:pPr marL="0" indent="0">
              <a:buNone/>
            </a:pPr>
            <a:r>
              <a:rPr lang="en-US" dirty="0"/>
              <a:t>(move restaurant bank)</a:t>
            </a:r>
          </a:p>
          <a:p>
            <a:pPr marL="0" indent="0">
              <a:buNone/>
            </a:pPr>
            <a:r>
              <a:rPr lang="en-US" dirty="0"/>
              <a:t>(move bank park2)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 p1 park2)</a:t>
            </a:r>
          </a:p>
          <a:p>
            <a:pPr marL="0" indent="0">
              <a:buNone/>
            </a:pPr>
            <a:r>
              <a:rPr lang="en-US" dirty="0"/>
              <a:t>(move park2 school)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 p2 school)</a:t>
            </a:r>
          </a:p>
          <a:p>
            <a:pPr marL="0" indent="0">
              <a:buNone/>
            </a:pPr>
            <a:r>
              <a:rPr lang="en-US" dirty="0"/>
              <a:t>(move school park2)</a:t>
            </a:r>
          </a:p>
          <a:p>
            <a:pPr marL="0" indent="0">
              <a:buNone/>
            </a:pPr>
            <a:r>
              <a:rPr lang="en-US" dirty="0"/>
              <a:t>(move park2 office)</a:t>
            </a:r>
          </a:p>
          <a:p>
            <a:pPr marL="0" indent="0">
              <a:buNone/>
            </a:pPr>
            <a:r>
              <a:rPr lang="en-US" dirty="0"/>
              <a:t> (</a:t>
            </a:r>
            <a:r>
              <a:rPr lang="en-US" dirty="0" err="1"/>
              <a:t>getOff</a:t>
            </a:r>
            <a:r>
              <a:rPr lang="en-US" dirty="0"/>
              <a:t> p2 office)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7790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41304-D584-12B0-A95B-6F3B50D0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1838C5-1DA3-CAC6-923D-17584FFC0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126589"/>
            <a:ext cx="10515600" cy="823913"/>
          </a:xfrm>
        </p:spPr>
        <p:txBody>
          <a:bodyPr/>
          <a:lstStyle/>
          <a:p>
            <a:r>
              <a:rPr lang="en-US" dirty="0"/>
              <a:t>Problem 2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603B981-FA77-61F4-C382-1232192D5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512" y="401337"/>
            <a:ext cx="5157787" cy="823912"/>
          </a:xfrm>
        </p:spPr>
        <p:txBody>
          <a:bodyPr/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8CF65EF-4990-88F8-019A-081E06AD6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512" y="1499997"/>
            <a:ext cx="5330063" cy="5130419"/>
          </a:xfrm>
        </p:spPr>
        <p:txBody>
          <a:bodyPr numCol="2">
            <a:normAutofit lnSpcReduction="10000"/>
          </a:bodyPr>
          <a:lstStyle/>
          <a:p>
            <a:pPr marL="0" indent="0">
              <a:buNone/>
            </a:pPr>
            <a:r>
              <a:rPr lang="en-US" sz="1200" dirty="0"/>
              <a:t>(move office park2)</a:t>
            </a:r>
          </a:p>
          <a:p>
            <a:pPr marL="0" indent="0">
              <a:buNone/>
            </a:pPr>
            <a:r>
              <a:rPr lang="en-US" sz="1200" dirty="0"/>
              <a:t>(move park2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(move pub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p3 apartment2)</a:t>
            </a:r>
          </a:p>
          <a:p>
            <a:pPr marL="0" indent="0">
              <a:buNone/>
            </a:pPr>
            <a:r>
              <a:rPr lang="en-US" sz="1200" dirty="0"/>
              <a:t>(move apartment2 pub)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p3 mall)</a:t>
            </a:r>
          </a:p>
          <a:p>
            <a:pPr marL="0" indent="0">
              <a:buNone/>
            </a:pPr>
            <a:r>
              <a:rPr lang="en-US" sz="1200" dirty="0"/>
              <a:t>(move mall pub)</a:t>
            </a:r>
          </a:p>
          <a:p>
            <a:pPr marL="0" indent="0">
              <a:buNone/>
            </a:pPr>
            <a:r>
              <a:rPr lang="en-US" sz="1200" dirty="0"/>
              <a:t>(move pub apartment2)</a:t>
            </a:r>
          </a:p>
          <a:p>
            <a:pPr marL="0" indent="0">
              <a:buNone/>
            </a:pPr>
            <a:r>
              <a:rPr lang="en-US" sz="1200" dirty="0"/>
              <a:t>(move apartment2 restaurant)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p1 restaurant)</a:t>
            </a:r>
          </a:p>
          <a:p>
            <a:pPr marL="0" indent="0">
              <a:buNone/>
            </a:pPr>
            <a:r>
              <a:rPr lang="en-US" sz="1200" dirty="0"/>
              <a:t>(move restaurant apartment2)</a:t>
            </a:r>
          </a:p>
          <a:p>
            <a:pPr marL="0" indent="0">
              <a:buNone/>
            </a:pPr>
            <a:r>
              <a:rPr lang="en-US" sz="1200" dirty="0"/>
              <a:t>(move apartment2 pub)</a:t>
            </a:r>
          </a:p>
          <a:p>
            <a:pPr marL="0" indent="0">
              <a:buNone/>
            </a:pPr>
            <a:r>
              <a:rPr lang="en-US" sz="1200" dirty="0"/>
              <a:t>(move pub chargeStation1)</a:t>
            </a:r>
          </a:p>
          <a:p>
            <a:pPr marL="0" indent="0">
              <a:buNone/>
            </a:pPr>
            <a:r>
              <a:rPr lang="en-US" sz="1200" dirty="0"/>
              <a:t>(recharge chargeStation1)</a:t>
            </a:r>
          </a:p>
          <a:p>
            <a:pPr marL="0" indent="0">
              <a:buNone/>
            </a:pPr>
            <a:r>
              <a:rPr lang="en-US" sz="1200" dirty="0"/>
              <a:t>(move chargeStation1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p1 park2)</a:t>
            </a:r>
          </a:p>
          <a:p>
            <a:pPr marL="0" indent="0">
              <a:buNone/>
            </a:pPr>
            <a:r>
              <a:rPr lang="en-US" sz="1200" dirty="0"/>
              <a:t>(move park2 school)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p2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(move park2 office)</a:t>
            </a:r>
          </a:p>
          <a:p>
            <a:pPr marL="0" indent="0">
              <a:buNone/>
            </a:pPr>
            <a:r>
              <a:rPr lang="en-US" sz="1200" dirty="0"/>
              <a:t>(move office apartment1)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p2 apartment1)</a:t>
            </a:r>
          </a:p>
          <a:p>
            <a:pPr marL="0" indent="0">
              <a:buNone/>
            </a:pPr>
            <a:r>
              <a:rPr lang="en-US" sz="1200" dirty="0"/>
              <a:t>(move apartment1 office)</a:t>
            </a:r>
          </a:p>
          <a:p>
            <a:pPr marL="0" indent="0">
              <a:buNone/>
            </a:pPr>
            <a:r>
              <a:rPr lang="en-US" sz="1200" dirty="0"/>
              <a:t>(move office park1)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p4 park1)</a:t>
            </a:r>
          </a:p>
          <a:p>
            <a:pPr marL="0" indent="0">
              <a:buNone/>
            </a:pPr>
            <a:r>
              <a:rPr lang="en-US" sz="1200" dirty="0"/>
              <a:t>(move park1 office)</a:t>
            </a:r>
          </a:p>
          <a:p>
            <a:pPr marL="0" indent="0">
              <a:buNone/>
            </a:pPr>
            <a:r>
              <a:rPr lang="en-US" sz="1200" dirty="0"/>
              <a:t>(move office park2)</a:t>
            </a:r>
          </a:p>
          <a:p>
            <a:pPr marL="0" indent="0">
              <a:buNone/>
            </a:pPr>
            <a:r>
              <a:rPr lang="en-US" sz="1200" dirty="0"/>
              <a:t>(move park2 chargeStation1)</a:t>
            </a:r>
          </a:p>
          <a:p>
            <a:pPr marL="0" indent="0">
              <a:buNone/>
            </a:pPr>
            <a:r>
              <a:rPr lang="en-US" sz="1200" dirty="0"/>
              <a:t>(recharge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(move pub apartment2)</a:t>
            </a:r>
          </a:p>
          <a:p>
            <a:pPr marL="0" indent="0">
              <a:buNone/>
            </a:pPr>
            <a:r>
              <a:rPr lang="en-US" sz="1200" dirty="0"/>
              <a:t>(move apartment2 airport)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p4 airport)</a:t>
            </a:r>
            <a:endParaRPr lang="it-IT" sz="1200" dirty="0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2AD1779-A66F-A56B-9141-1C8F199506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401337"/>
            <a:ext cx="5183188" cy="823912"/>
          </a:xfrm>
        </p:spPr>
        <p:txBody>
          <a:bodyPr/>
          <a:lstStyle/>
          <a:p>
            <a:r>
              <a:rPr lang="en-US" dirty="0"/>
              <a:t>WA* h_max</a:t>
            </a:r>
            <a:endParaRPr lang="it-IT" dirty="0"/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8A16085C-3056-2625-CD5C-335A8E501330}"/>
              </a:ext>
            </a:extLst>
          </p:cNvPr>
          <p:cNvSpPr txBox="1">
            <a:spLocks/>
          </p:cNvSpPr>
          <p:nvPr/>
        </p:nvSpPr>
        <p:spPr>
          <a:xfrm>
            <a:off x="6194425" y="1499996"/>
            <a:ext cx="5330063" cy="5130419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/>
              <a:t>(move office park1)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p4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(move restaurant apartment2)</a:t>
            </a:r>
          </a:p>
          <a:p>
            <a:pPr marL="0" indent="0">
              <a:buNone/>
            </a:pPr>
            <a:r>
              <a:rPr lang="en-US" sz="1200" dirty="0"/>
              <a:t>(move apartment2 airport)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p4 airport)</a:t>
            </a:r>
          </a:p>
          <a:p>
            <a:pPr marL="0" indent="0">
              <a:buNone/>
            </a:pPr>
            <a:r>
              <a:rPr lang="en-US" sz="1200" dirty="0"/>
              <a:t>(move airport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p3 apartment2)</a:t>
            </a:r>
          </a:p>
          <a:p>
            <a:pPr marL="0" indent="0">
              <a:buNone/>
            </a:pPr>
            <a:r>
              <a:rPr lang="en-US" sz="1200" dirty="0"/>
              <a:t>(move apartment2 pub)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p3 mall)</a:t>
            </a:r>
          </a:p>
          <a:p>
            <a:pPr marL="0" indent="0">
              <a:buNone/>
            </a:pPr>
            <a:r>
              <a:rPr lang="en-US" sz="1200" dirty="0"/>
              <a:t>(move mall pub)</a:t>
            </a:r>
          </a:p>
          <a:p>
            <a:pPr marL="0" indent="0">
              <a:buNone/>
            </a:pPr>
            <a:r>
              <a:rPr lang="en-US" sz="1200" dirty="0"/>
              <a:t>(move pub chargeStation1)</a:t>
            </a:r>
          </a:p>
          <a:p>
            <a:pPr marL="0" indent="0">
              <a:buNone/>
            </a:pPr>
            <a:r>
              <a:rPr lang="en-US" sz="1200" dirty="0"/>
              <a:t>(recharge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(move pub apartment2)</a:t>
            </a:r>
          </a:p>
          <a:p>
            <a:pPr marL="0" indent="0">
              <a:buNone/>
            </a:pPr>
            <a:r>
              <a:rPr lang="en-US" sz="1200" dirty="0"/>
              <a:t>(move apartment2 restaurant)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p1 restaurant)</a:t>
            </a:r>
          </a:p>
          <a:p>
            <a:pPr marL="0" indent="0">
              <a:buNone/>
            </a:pPr>
            <a:r>
              <a:rPr lang="en-US" sz="1200" dirty="0"/>
              <a:t>(move restaurant bank)</a:t>
            </a:r>
          </a:p>
          <a:p>
            <a:pPr marL="0" indent="0">
              <a:buNone/>
            </a:pPr>
            <a:r>
              <a:rPr lang="en-US" sz="1200" dirty="0"/>
              <a:t>(move bank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p1 park2)</a:t>
            </a:r>
          </a:p>
          <a:p>
            <a:pPr marL="0" indent="0">
              <a:buNone/>
            </a:pPr>
            <a:r>
              <a:rPr lang="en-US" sz="1200" dirty="0"/>
              <a:t>(move park2 school)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p2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(move park2 office)</a:t>
            </a:r>
          </a:p>
          <a:p>
            <a:pPr marL="0" indent="0">
              <a:buNone/>
            </a:pPr>
            <a:r>
              <a:rPr lang="en-US" sz="1200" dirty="0"/>
              <a:t>(move office apartment1)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p2 apartment1)</a:t>
            </a:r>
            <a:endParaRPr lang="it-IT" sz="1200" dirty="0"/>
          </a:p>
        </p:txBody>
      </p:sp>
    </p:spTree>
    <p:extLst>
      <p:ext uri="{BB962C8B-B14F-4D97-AF65-F5344CB8AC3E}">
        <p14:creationId xmlns:p14="http://schemas.microsoft.com/office/powerpoint/2010/main" val="378142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D242B-0BF6-66E8-0437-071CBAC9E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7E572A-B669-3BB5-0E65-4F38BDA8B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126589"/>
            <a:ext cx="10515600" cy="823913"/>
          </a:xfrm>
        </p:spPr>
        <p:txBody>
          <a:bodyPr/>
          <a:lstStyle/>
          <a:p>
            <a:r>
              <a:rPr lang="en-US" dirty="0"/>
              <a:t>Problem 3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86F3AC3-1263-EAD5-4504-284EF0010B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512" y="401337"/>
            <a:ext cx="5157787" cy="823912"/>
          </a:xfrm>
        </p:spPr>
        <p:txBody>
          <a:bodyPr/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7B34DC-B6F1-FC66-6B20-58A5E6D718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512" y="1499997"/>
            <a:ext cx="5330063" cy="5130419"/>
          </a:xfrm>
        </p:spPr>
        <p:txBody>
          <a:bodyPr numCol="2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office1 park1)</a:t>
            </a:r>
          </a:p>
          <a:p>
            <a:pPr marL="0" indent="0">
              <a:buNone/>
            </a:pPr>
            <a:r>
              <a:rPr lang="en-US" sz="1200" dirty="0"/>
              <a:t>(move office1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p1 restaurant)</a:t>
            </a:r>
          </a:p>
          <a:p>
            <a:pPr marL="0" indent="0">
              <a:buNone/>
            </a:pPr>
            <a:r>
              <a:rPr lang="en-US" sz="1200" dirty="0"/>
              <a:t>(move restaurant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pub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p1 park2)</a:t>
            </a:r>
          </a:p>
          <a:p>
            <a:pPr marL="0" indent="0">
              <a:buNone/>
            </a:pPr>
            <a:r>
              <a:rPr lang="en-US" sz="1200" dirty="0"/>
              <a:t>(move park2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p2 pub)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(move mall apartment1)</a:t>
            </a:r>
          </a:p>
          <a:p>
            <a:pPr marL="0" indent="0">
              <a:buNone/>
            </a:pPr>
            <a:r>
              <a:rPr lang="en-US" sz="1200" dirty="0"/>
              <a:t>(move apartment1 hotel)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p2 hotel)</a:t>
            </a:r>
          </a:p>
          <a:p>
            <a:pPr marL="0" indent="0">
              <a:buNone/>
            </a:pPr>
            <a:r>
              <a:rPr lang="en-US" sz="1200" dirty="0"/>
              <a:t>(move hotel chargeStation2)</a:t>
            </a:r>
          </a:p>
          <a:p>
            <a:pPr marL="0" indent="0">
              <a:buNone/>
            </a:pPr>
            <a:r>
              <a:rPr lang="en-US" sz="1200" dirty="0"/>
              <a:t>(recharge chargeStation2)</a:t>
            </a:r>
          </a:p>
          <a:p>
            <a:pPr marL="0" indent="0">
              <a:buNone/>
            </a:pPr>
            <a:r>
              <a:rPr lang="en-US" sz="1200" dirty="0"/>
              <a:t>(move chargeStation2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(move restaurant school)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p4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(move park2 office1)</a:t>
            </a:r>
          </a:p>
          <a:p>
            <a:pPr marL="0" indent="0">
              <a:buNone/>
            </a:pPr>
            <a:r>
              <a:rPr lang="en-US" sz="1200" dirty="0"/>
              <a:t>(move office1 apartment1)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p4 apartment1)</a:t>
            </a:r>
          </a:p>
          <a:p>
            <a:pPr marL="0" indent="0">
              <a:buNone/>
            </a:pPr>
            <a:r>
              <a:rPr lang="en-US" sz="1200" dirty="0"/>
              <a:t>(move apartment1 hotel)</a:t>
            </a:r>
          </a:p>
          <a:p>
            <a:pPr marL="0" indent="0">
              <a:buNone/>
            </a:pPr>
            <a:r>
              <a:rPr lang="en-US" sz="1200" dirty="0"/>
              <a:t>(move hotel chargeStation2)</a:t>
            </a:r>
          </a:p>
          <a:p>
            <a:pPr marL="0" indent="0">
              <a:buNone/>
            </a:pPr>
            <a:r>
              <a:rPr lang="en-US" sz="1200" dirty="0"/>
              <a:t>(recharge chargeStation2)</a:t>
            </a:r>
          </a:p>
          <a:p>
            <a:pPr marL="0" indent="0">
              <a:buNone/>
            </a:pPr>
            <a:r>
              <a:rPr lang="en-US" sz="1200" dirty="0"/>
              <a:t>(move chargeStation2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(move restaurant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p3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park1 office1)</a:t>
            </a:r>
          </a:p>
          <a:p>
            <a:pPr marL="0" indent="0">
              <a:buNone/>
            </a:pPr>
            <a:r>
              <a:rPr lang="en-US" sz="1200" dirty="0"/>
              <a:t>(move apartment2 restaurant)</a:t>
            </a:r>
          </a:p>
          <a:p>
            <a:pPr marL="0" indent="0">
              <a:buNone/>
            </a:pPr>
            <a:r>
              <a:rPr lang="en-US" sz="1200" dirty="0"/>
              <a:t>(move restaurant park1)</a:t>
            </a:r>
          </a:p>
          <a:p>
            <a:pPr marL="0" indent="0">
              <a:buNone/>
            </a:pPr>
            <a:r>
              <a:rPr lang="en-US" sz="1200" dirty="0"/>
              <a:t>(move park1 office1)</a:t>
            </a:r>
          </a:p>
          <a:p>
            <a:pPr marL="0" indent="0">
              <a:buNone/>
            </a:pPr>
            <a:r>
              <a:rPr lang="en-US" sz="1200" dirty="0"/>
              <a:t>(move office1 apartment1)</a:t>
            </a:r>
          </a:p>
          <a:p>
            <a:pPr marL="0" indent="0">
              <a:buNone/>
            </a:pPr>
            <a:r>
              <a:rPr lang="en-US" sz="1200" dirty="0"/>
              <a:t>(move apartment1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p3 mall)</a:t>
            </a:r>
            <a:endParaRPr lang="it-IT" sz="1200" dirty="0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D2264D6-7E9E-ED7A-DFF2-B25C2419EA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401337"/>
            <a:ext cx="5183188" cy="823912"/>
          </a:xfrm>
        </p:spPr>
        <p:txBody>
          <a:bodyPr/>
          <a:lstStyle/>
          <a:p>
            <a:r>
              <a:rPr lang="en-US" dirty="0"/>
              <a:t>WA* h_max</a:t>
            </a:r>
            <a:endParaRPr lang="it-IT" dirty="0"/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B1FC3AA3-F214-428F-5500-5D6C5B6353AA}"/>
              </a:ext>
            </a:extLst>
          </p:cNvPr>
          <p:cNvSpPr txBox="1">
            <a:spLocks/>
          </p:cNvSpPr>
          <p:nvPr/>
        </p:nvSpPr>
        <p:spPr>
          <a:xfrm>
            <a:off x="6194425" y="1499996"/>
            <a:ext cx="5330063" cy="5130419"/>
          </a:xfrm>
          <a:prstGeom prst="rect">
            <a:avLst/>
          </a:prstGeom>
        </p:spPr>
        <p:txBody>
          <a:bodyPr vert="horz" lIns="91440" tIns="45720" rIns="91440" bIns="45720" numCol="2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office1 park1)</a:t>
            </a:r>
          </a:p>
          <a:p>
            <a:pPr marL="0" indent="0">
              <a:buNone/>
            </a:pPr>
            <a:r>
              <a:rPr lang="en-US" sz="1200" dirty="0"/>
              <a:t>(move office1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(move restaurant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p3 apartment2)</a:t>
            </a:r>
          </a:p>
          <a:p>
            <a:pPr marL="0" indent="0">
              <a:buNone/>
            </a:pPr>
            <a:r>
              <a:rPr lang="en-US" sz="1200" dirty="0"/>
              <a:t>(move apartment2 restaurant)</a:t>
            </a:r>
          </a:p>
          <a:p>
            <a:pPr marL="0" indent="0">
              <a:buNone/>
            </a:pPr>
            <a:r>
              <a:rPr lang="en-US" sz="1200" dirty="0"/>
              <a:t>(move restaurant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pub mall)</a:t>
            </a:r>
          </a:p>
          <a:p>
            <a:pPr marL="0" indent="0">
              <a:buNone/>
            </a:pPr>
            <a:r>
              <a:rPr lang="en-US" sz="1200" dirty="0"/>
              <a:t>(move park2 chargeStation1)</a:t>
            </a:r>
          </a:p>
          <a:p>
            <a:pPr marL="0" indent="0">
              <a:buNone/>
            </a:pPr>
            <a:r>
              <a:rPr lang="en-US" sz="1200" dirty="0"/>
              <a:t>(recharge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p3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mall pub)</a:t>
            </a:r>
          </a:p>
          <a:p>
            <a:pPr marL="0" indent="0">
              <a:buNone/>
            </a:pPr>
            <a:r>
              <a:rPr lang="en-US" sz="1200" dirty="0"/>
              <a:t>(move mall pub)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p2 pub)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pub mall)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(move mall apartment1)</a:t>
            </a:r>
          </a:p>
          <a:p>
            <a:pPr marL="0" indent="0">
              <a:buNone/>
            </a:pPr>
            <a:r>
              <a:rPr lang="en-US" sz="1200" dirty="0"/>
              <a:t>(move apartment1 hotel)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p2 hotel)</a:t>
            </a:r>
          </a:p>
          <a:p>
            <a:pPr marL="0" indent="0">
              <a:buNone/>
            </a:pPr>
            <a:r>
              <a:rPr lang="en-US" sz="1200" dirty="0"/>
              <a:t>(move hotel chargeStation2)</a:t>
            </a:r>
          </a:p>
          <a:p>
            <a:pPr marL="0" indent="0">
              <a:buNone/>
            </a:pPr>
            <a:r>
              <a:rPr lang="en-US" sz="1200" dirty="0"/>
              <a:t>(recharge chargeStation2)</a:t>
            </a:r>
          </a:p>
          <a:p>
            <a:pPr marL="0" indent="0">
              <a:buNone/>
            </a:pPr>
            <a:r>
              <a:rPr lang="en-US" sz="1200" dirty="0"/>
              <a:t>(move chargeStation2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p1 restaurant)</a:t>
            </a:r>
          </a:p>
          <a:p>
            <a:pPr marL="0" indent="0">
              <a:buNone/>
            </a:pPr>
            <a:r>
              <a:rPr lang="en-US" sz="1200" dirty="0"/>
              <a:t>(move restaurant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p1 park2)</a:t>
            </a:r>
          </a:p>
          <a:p>
            <a:pPr marL="0" indent="0">
              <a:buNone/>
            </a:pPr>
            <a:r>
              <a:rPr lang="en-US" sz="1200" dirty="0"/>
              <a:t>(move park2 school)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p4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(move park2 office1)</a:t>
            </a:r>
          </a:p>
          <a:p>
            <a:pPr marL="0" indent="0">
              <a:buNone/>
            </a:pPr>
            <a:r>
              <a:rPr lang="en-US" sz="1200" dirty="0"/>
              <a:t>(move office1 apartment1)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p4 apartment1)</a:t>
            </a:r>
            <a:endParaRPr lang="it-IT" sz="1200" dirty="0"/>
          </a:p>
        </p:txBody>
      </p:sp>
    </p:spTree>
    <p:extLst>
      <p:ext uri="{BB962C8B-B14F-4D97-AF65-F5344CB8AC3E}">
        <p14:creationId xmlns:p14="http://schemas.microsoft.com/office/powerpoint/2010/main" val="414790331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TM02892315[[fn=Filo]]</Template>
  <TotalTime>393</TotalTime>
  <Words>1855</Words>
  <Application>Microsoft Office PowerPoint</Application>
  <PresentationFormat>Widescreen</PresentationFormat>
  <Paragraphs>394</Paragraphs>
  <Slides>14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Tema di Office</vt:lpstr>
      <vt:lpstr>Taxi Planning </vt:lpstr>
      <vt:lpstr>Domain</vt:lpstr>
      <vt:lpstr>PDDL</vt:lpstr>
      <vt:lpstr>Presentazione standard di PowerPoint</vt:lpstr>
      <vt:lpstr>Actions 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Comparing h_add and h_max</vt:lpstr>
      <vt:lpstr>Problem 1</vt:lpstr>
      <vt:lpstr>Problem 2</vt:lpstr>
      <vt:lpstr>Problem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Giovanni Di Nola</dc:creator>
  <cp:lastModifiedBy>Giovanni Di Nola</cp:lastModifiedBy>
  <cp:revision>3</cp:revision>
  <dcterms:created xsi:type="dcterms:W3CDTF">2026-02-10T18:32:19Z</dcterms:created>
  <dcterms:modified xsi:type="dcterms:W3CDTF">2026-02-11T08:49:07Z</dcterms:modified>
</cp:coreProperties>
</file>