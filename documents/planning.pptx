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0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WA* h_add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Foglio1!$B$2:$B$4</c:f>
              <c:numCache>
                <c:formatCode>General</c:formatCode>
                <c:ptCount val="3"/>
                <c:pt idx="0">
                  <c:v>63</c:v>
                </c:pt>
                <c:pt idx="1">
                  <c:v>195</c:v>
                </c:pt>
                <c:pt idx="2">
                  <c:v>84.94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WA* h_max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Foglio1!$C$2:$C$4</c:f>
              <c:numCache>
                <c:formatCode>General</c:formatCode>
                <c:ptCount val="3"/>
                <c:pt idx="0">
                  <c:v>74</c:v>
                </c:pt>
                <c:pt idx="1">
                  <c:v>925</c:v>
                </c:pt>
                <c:pt idx="2">
                  <c:v>390.47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3A28CB-22D4-F1B1-BEC3-CF0946D5AD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EF7A30C-C53D-659E-BF57-5F01B32FBE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1816C8-5D63-4AD5-B8F8-AFEE3087F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FCAB74-55C8-9CED-3C57-DA1D8E222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E4956FC-F55F-A98E-001E-93D944587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2680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ECCEB5-B495-C587-4CA2-6596F18D1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397CD7-3D31-B63B-4FBC-CF594C979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347405E-42CD-5AE6-A7B4-A2DFCB2B7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B9BA4BC-5E68-FB5F-3D0A-842D63EC7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954ABD-D312-0473-8F7C-524EBDDC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996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5040A0-50C7-0A8A-2879-A66E7224A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539346E-3450-7F6F-71A2-CD5D92AA9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465732-F72E-D265-6B65-F4A190924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54D7B7-90A1-8B0F-64E5-75E7AAD17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EC7684-FBBD-3635-73C3-F595FB0C6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638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813D55-5A41-C769-1345-9D2433E45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366223-6308-C495-D2C0-D2FE2DA3E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79C9169-CE48-9D1F-3CC4-DB820618A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42D29CF-B628-422B-775F-638DFA4D7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A7BA909-7BF3-A99D-B9D8-5113104D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93F2F18-3A5E-98C5-C1E1-E2A0782A8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871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E94711-E989-798A-3585-02E90EBF1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4C2C196-D733-F063-7C6B-070F16241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685C4A1-9BE8-29C1-D744-FFCA5E163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9F3D9F2-3731-ACA0-AA39-0C4525F955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9560B71-72BF-BB50-2E90-BA6FB9C35C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3F36E56-E990-D22A-5EAE-631E18D22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8808D5C-F073-CBD1-458E-2E92D64D4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B8B0F94-E194-7ACB-DDD4-A1D8D3A0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8261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1548D5-0121-7901-BE4E-95E3D7FE2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7AD8BBD-AE53-B0CF-4A8B-10EB44A3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5EF7295-3390-EBF5-24F5-B01BB471B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E2C1170-D1D9-6C77-1A90-13B3BED85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7239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16B1372-BD17-8047-6506-5DEE131B8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B39A019A-5E91-1379-77CD-767DAED3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929E80-6667-875D-067D-976080E95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193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8E5975-9B14-721F-E312-915325B86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D5CC84-C1FE-FD96-7C53-E9199754B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578E02E-2F23-9712-212E-DFA4303D5C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E47BD0E-497F-2BAE-0264-82FF8D5B0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CAFEF0-7ACE-43F9-82B0-7FE818A97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8548E8B-75F3-7C35-4936-E3061922C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1281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046FC0-650C-CC2B-A7AA-E49665200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DF7C20E-19F7-7DB7-BDBA-8EC14044F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64E4FB-12D1-59A0-F786-9DFDC6E744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CF2F288-3452-32F2-54D3-5A8CBB071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154B2C-CA1C-7FB3-267B-0A367C3B0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254869B-5A32-AE9F-A748-9731A999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5456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37E45B-D0EA-59E0-02FA-420FA98C0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AE44365-24E7-5FF3-026A-AEA9AFDA73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FDF8822-BB78-6DF6-924C-B489F373B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F9300C4-C81E-1777-C436-9F989E756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CE13ED-1FBB-E997-41C3-301FF5508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5381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6CFD6C9-1889-C1B0-348B-6F085C13F0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4DED2D2-CD9D-39D0-7028-08F96C70B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CDB8FC-C2C6-38EE-29F4-C0FB3EDF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9AC4B2-3ED3-A8EF-F0FD-D7D0E92F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6AF6EE-5021-1E64-BA1F-482E390FF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35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EFF8D1-A0E0-1FCA-82C4-27256B28B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999AFEE-E27F-F346-38B4-E46D75B9A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CCFD0E5-4E47-6BF7-528D-D845FDCE7D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9A88D1-53EC-497B-915E-543669E324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58D09B-0B79-5292-B305-4F0B6278EE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4082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954327-14C9-F821-9D6A-6E22EB0465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Taxi Planning	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88A517E-E114-CE96-6F12-4465D57E0C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Giovanni Di Nola 1894682</a:t>
            </a:r>
          </a:p>
          <a:p>
            <a:r>
              <a:rPr lang="en-US" dirty="0"/>
              <a:t>Serena Ragaglia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2352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A9CD77-37B0-BC16-912D-110178DE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Domain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DFEA76-4651-9303-6886-52F1DB200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goal is to manage the movement of a taxi in a map of interconnected location, handling traffic, clients’ requests and battery level.</a:t>
            </a:r>
          </a:p>
          <a:p>
            <a:pPr marL="0" indent="0">
              <a:buNone/>
            </a:pPr>
            <a:r>
              <a:rPr lang="en-US" dirty="0"/>
              <a:t>Clients are in a location and have an active request to reach a destination. The taxi has to reach the location, pick up the client, reach the location and drop him off. </a:t>
            </a:r>
          </a:p>
          <a:p>
            <a:pPr marL="0" indent="0">
              <a:buNone/>
            </a:pPr>
            <a:r>
              <a:rPr lang="en-US" dirty="0"/>
              <a:t>The taxi has limited battery, that can be recharged by reaching a recharge station, a specific type of location.</a:t>
            </a:r>
          </a:p>
          <a:p>
            <a:pPr marL="0" indent="0">
              <a:buNone/>
            </a:pPr>
            <a:r>
              <a:rPr lang="en-US" dirty="0"/>
              <a:t>Traffic lights and congestions increase the cost of crossing specific locations and roads.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7796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45B820-4CD0-9552-EEDE-708493B34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PDDL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4D31D9-02E3-7E1E-7D86-0606855E0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(road ?l1 ?l2 –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there is a direct road connection from location `?l1` to location `?l2`. This represents the physical infrastructure allowing the taxi to travel between two locations.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trafficLight</a:t>
            </a:r>
            <a:r>
              <a:rPr lang="en-US" b="1" dirty="0"/>
              <a:t> ?l1 ?l2 -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there is a traffic light controlling the road from location `?l1` to location `?l2`. The taxi must check the light color before passing through.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lightColor</a:t>
            </a:r>
            <a:r>
              <a:rPr lang="en-US" b="1" dirty="0"/>
              <a:t> ?c - color ?l1 ?l2 -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Specifies the current color `?c` of the traffic light on the road from `?l1` to `?l2`. Used to determine if the taxi can proceed through a traffic light.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taxiAt</a:t>
            </a:r>
            <a:r>
              <a:rPr lang="en-US" b="1" dirty="0"/>
              <a:t> ?l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the current location of the taxi. The taxi can only be at one location at a time.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4663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0BF6F-EBFB-9174-FFDC-6AC57E022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664" y="755776"/>
            <a:ext cx="10710672" cy="6038215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(</a:t>
            </a:r>
            <a:r>
              <a:rPr lang="en-US" b="1" dirty="0" err="1"/>
              <a:t>passengerAt</a:t>
            </a:r>
            <a:r>
              <a:rPr lang="en-US" b="1" dirty="0"/>
              <a:t> ?p - passenger ?l - location)`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passenger `?p` is currently at location `?l`. Used to track passenger positions when they are not in the taxi.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requestTo</a:t>
            </a:r>
            <a:r>
              <a:rPr lang="en-US" b="1" dirty="0"/>
              <a:t> ?p - passenger ?l - location)`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passenger `?p` has requested transportation to location `?l`. This represents the passenger's desired destination.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onTaxi</a:t>
            </a:r>
            <a:r>
              <a:rPr lang="en-US" b="1" dirty="0"/>
              <a:t> ?p - passenger)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passenger `?p` is currently riding in the taxi. Only one passenger can be in the taxi at a time in this domain.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(congested ?l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location `?l` is congested (high traffic). Travel costs are increased when entering congested locations.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chargeStation</a:t>
            </a:r>
            <a:r>
              <a:rPr lang="en-US" b="1" dirty="0"/>
              <a:t> ?l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location `?l` has a charging station where the taxi can recharge its battery.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023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647321-4305-0B6D-F19C-D79AF64C3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616" y="0"/>
            <a:ext cx="10515600" cy="1325563"/>
          </a:xfrm>
        </p:spPr>
        <p:txBody>
          <a:bodyPr/>
          <a:lstStyle/>
          <a:p>
            <a:r>
              <a:rPr lang="en-US" dirty="0"/>
              <a:t>Actions </a:t>
            </a:r>
            <a:endParaRPr lang="it-IT" dirty="0"/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1777880D-A3ED-9AC3-157B-16062ED763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0075035"/>
              </p:ext>
            </p:extLst>
          </p:nvPr>
        </p:nvGraphicFramePr>
        <p:xfrm>
          <a:off x="737616" y="1203832"/>
          <a:ext cx="11012424" cy="53158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259110098"/>
                    </a:ext>
                  </a:extLst>
                </a:gridCol>
                <a:gridCol w="4335489">
                  <a:extLst>
                    <a:ext uri="{9D8B030D-6E8A-4147-A177-3AD203B41FA5}">
                      <a16:colId xmlns:a16="http://schemas.microsoft.com/office/drawing/2014/main" val="3078254791"/>
                    </a:ext>
                  </a:extLst>
                </a:gridCol>
                <a:gridCol w="4543335">
                  <a:extLst>
                    <a:ext uri="{9D8B030D-6E8A-4147-A177-3AD203B41FA5}">
                      <a16:colId xmlns:a16="http://schemas.microsoft.com/office/drawing/2014/main" val="2949227315"/>
                    </a:ext>
                  </a:extLst>
                </a:gridCol>
              </a:tblGrid>
              <a:tr h="1502215">
                <a:tc>
                  <a:txBody>
                    <a:bodyPr/>
                    <a:lstStyle/>
                    <a:p>
                      <a:r>
                        <a:rPr lang="en-US" dirty="0"/>
                        <a:t>Move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(?l1 ?l2 - location)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Taxi must be at location ?l1.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road must exist from ?l1 to ?l2.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Battery level must be sufficient to cover the distance.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there's a traffic light, it must be green.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Taxi is now at location ?l2 (no longer at ?l1).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Battery level decreases by distance × cost-per-distance.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?l2 is congested: total cost increases by distance × 5.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?l2 is not congested: total cost increases by distance.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there was a green traffic light: it switches to red.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541019"/>
                  </a:ext>
                </a:extLst>
              </a:tr>
              <a:tr h="19068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switchLight</a:t>
                      </a:r>
                      <a:endParaRPr lang="it-IT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(?l1 ?l2 - location)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traffic light must exist between ?l1 and ?l2.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light must currently be red.</a:t>
                      </a:r>
                    </a:p>
                    <a:p>
                      <a:endParaRPr lang="it-IT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Light color changes from red to green.</a:t>
                      </a:r>
                    </a:p>
                    <a:p>
                      <a:r>
                        <a:rPr lang="en-US" sz="1400" dirty="0"/>
                        <a:t>Total cost increases by 3.</a:t>
                      </a:r>
                      <a:endParaRPr lang="it-IT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616914"/>
                  </a:ext>
                </a:extLst>
              </a:tr>
              <a:tr h="1906813">
                <a:tc>
                  <a:txBody>
                    <a:bodyPr/>
                    <a:lstStyle/>
                    <a:p>
                      <a:r>
                        <a:rPr lang="en-US" b="1" dirty="0"/>
                        <a:t>Recharge</a:t>
                      </a:r>
                      <a:endParaRPr lang="en-US" b="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(?l - location)</a:t>
                      </a:r>
                    </a:p>
                    <a:p>
                      <a:endParaRPr lang="it-IT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Location ?l must have a charging station.</a:t>
                      </a:r>
                    </a:p>
                    <a:p>
                      <a:r>
                        <a:rPr lang="en-US" sz="1400" dirty="0"/>
                        <a:t>Taxi must be at location ?l.</a:t>
                      </a:r>
                    </a:p>
                    <a:p>
                      <a:r>
                        <a:rPr lang="en-US" sz="1400" dirty="0"/>
                        <a:t>Battery level must be less than 100.</a:t>
                      </a:r>
                      <a:endParaRPr lang="it-IT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Battery level is set to 100.</a:t>
                      </a:r>
                    </a:p>
                    <a:p>
                      <a:r>
                        <a:rPr lang="en-US" sz="1400" dirty="0"/>
                        <a:t>Total cost increases by 10.</a:t>
                      </a:r>
                      <a:endParaRPr lang="it-IT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7944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146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6EEE215A-7876-F211-5033-FB94821DC2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4203874"/>
              </p:ext>
            </p:extLst>
          </p:nvPr>
        </p:nvGraphicFramePr>
        <p:xfrm>
          <a:off x="838200" y="1389888"/>
          <a:ext cx="10515597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9320">
                  <a:extLst>
                    <a:ext uri="{9D8B030D-6E8A-4147-A177-3AD203B41FA5}">
                      <a16:colId xmlns:a16="http://schemas.microsoft.com/office/drawing/2014/main" val="1309879524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890592002"/>
                    </a:ext>
                  </a:extLst>
                </a:gridCol>
                <a:gridCol w="4148325">
                  <a:extLst>
                    <a:ext uri="{9D8B030D-6E8A-4147-A177-3AD203B41FA5}">
                      <a16:colId xmlns:a16="http://schemas.microsoft.com/office/drawing/2014/main" val="2696494757"/>
                    </a:ext>
                  </a:extLst>
                </a:gridCol>
              </a:tblGrid>
              <a:tr h="1461523">
                <a:tc>
                  <a:txBody>
                    <a:bodyPr/>
                    <a:lstStyle/>
                    <a:p>
                      <a:r>
                        <a:rPr lang="en-US" dirty="0" err="1"/>
                        <a:t>pickUp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(?p - </a:t>
                      </a:r>
                      <a:r>
                        <a:rPr lang="it-IT" sz="1800" b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passenger</a:t>
                      </a:r>
                      <a:r>
                        <a:rPr lang="it-IT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?l - location)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Passenger ?p must be at location ?l.</a:t>
                      </a:r>
                    </a:p>
                    <a:p>
                      <a:r>
                        <a:rPr lang="en-US" sz="1400" b="0" dirty="0"/>
                        <a:t>Taxi must be at location ?l.</a:t>
                      </a:r>
                    </a:p>
                    <a:p>
                      <a:r>
                        <a:rPr lang="en-US" sz="1400" b="0" dirty="0"/>
                        <a:t>Passenger must have an active request.</a:t>
                      </a:r>
                    </a:p>
                    <a:p>
                      <a:r>
                        <a:rPr lang="en-US" sz="1400" b="0" dirty="0"/>
                        <a:t>No other passenger can be in the taxi.</a:t>
                      </a:r>
                      <a:endParaRPr lang="it-IT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Passenger is no longer at location ?l.</a:t>
                      </a:r>
                    </a:p>
                    <a:p>
                      <a:r>
                        <a:rPr lang="en-US" sz="1400" b="0" dirty="0"/>
                        <a:t>Passenger is now on the taxi.</a:t>
                      </a:r>
                      <a:endParaRPr lang="it-IT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419501"/>
                  </a:ext>
                </a:extLst>
              </a:tr>
              <a:tr h="1464557">
                <a:tc>
                  <a:txBody>
                    <a:bodyPr/>
                    <a:lstStyle/>
                    <a:p>
                      <a:r>
                        <a:rPr lang="en-US" b="1" dirty="0" err="1"/>
                        <a:t>getOff</a:t>
                      </a:r>
                      <a:endParaRPr lang="en-US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(?p - </a:t>
                      </a:r>
                      <a:r>
                        <a:rPr lang="it-IT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passenger</a:t>
                      </a: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?l - location)</a:t>
                      </a:r>
                    </a:p>
                    <a:p>
                      <a:endParaRPr lang="it-IT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Passenger ?p must be on the taxi.</a:t>
                      </a:r>
                    </a:p>
                    <a:p>
                      <a:r>
                        <a:rPr lang="en-US" sz="1400" dirty="0"/>
                        <a:t>Taxi must be at location ?l.</a:t>
                      </a:r>
                    </a:p>
                    <a:p>
                      <a:r>
                        <a:rPr lang="en-US" sz="1400" dirty="0"/>
                        <a:t>Location ?l must be the passenger’s requested destination.</a:t>
                      </a:r>
                      <a:endParaRPr lang="it-IT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Passenger is no longer on the taxi.</a:t>
                      </a:r>
                    </a:p>
                    <a:p>
                      <a:r>
                        <a:rPr lang="en-US" sz="1400" dirty="0"/>
                        <a:t>Passenger is now at location ?l.</a:t>
                      </a:r>
                    </a:p>
                    <a:p>
                      <a:r>
                        <a:rPr lang="en-US" sz="1400" dirty="0"/>
                        <a:t>Passenger's request to location ?l is fulfilled.</a:t>
                      </a:r>
                      <a:endParaRPr lang="it-IT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7739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7345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05CB6E-C424-8430-3326-4E11BA65F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83CB00-89D7-07DE-B468-CCFD78146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the problem files the various initial states change based on:</a:t>
            </a:r>
          </a:p>
          <a:p>
            <a:r>
              <a:rPr lang="en-US" dirty="0"/>
              <a:t>Number of locations</a:t>
            </a:r>
          </a:p>
          <a:p>
            <a:r>
              <a:rPr lang="en-US" dirty="0"/>
              <a:t>Number of requests</a:t>
            </a:r>
          </a:p>
          <a:p>
            <a:r>
              <a:rPr lang="en-US" dirty="0"/>
              <a:t>Presence of congested roads</a:t>
            </a:r>
          </a:p>
          <a:p>
            <a:r>
              <a:rPr lang="en-US" dirty="0"/>
              <a:t>Presence of traffic lights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9774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magine 42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B11B548F-DB28-6F72-B959-035D196D4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6186" y="314325"/>
            <a:ext cx="3552825" cy="6229350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0C1F496E-E245-F19C-4B17-32356DB04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3310458"/>
              </p:ext>
            </p:extLst>
          </p:nvPr>
        </p:nvGraphicFramePr>
        <p:xfrm>
          <a:off x="143256" y="1512480"/>
          <a:ext cx="8684126" cy="383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03">
                  <a:extLst>
                    <a:ext uri="{9D8B030D-6E8A-4147-A177-3AD203B41FA5}">
                      <a16:colId xmlns:a16="http://schemas.microsoft.com/office/drawing/2014/main" val="2396994079"/>
                    </a:ext>
                  </a:extLst>
                </a:gridCol>
                <a:gridCol w="833781">
                  <a:extLst>
                    <a:ext uri="{9D8B030D-6E8A-4147-A177-3AD203B41FA5}">
                      <a16:colId xmlns:a16="http://schemas.microsoft.com/office/drawing/2014/main" val="3638045138"/>
                    </a:ext>
                  </a:extLst>
                </a:gridCol>
                <a:gridCol w="802105">
                  <a:extLst>
                    <a:ext uri="{9D8B030D-6E8A-4147-A177-3AD203B41FA5}">
                      <a16:colId xmlns:a16="http://schemas.microsoft.com/office/drawing/2014/main" val="1042304227"/>
                    </a:ext>
                  </a:extLst>
                </a:gridCol>
                <a:gridCol w="1074821">
                  <a:extLst>
                    <a:ext uri="{9D8B030D-6E8A-4147-A177-3AD203B41FA5}">
                      <a16:colId xmlns:a16="http://schemas.microsoft.com/office/drawing/2014/main" val="679142915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2583295718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3951846501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1477418520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1028579839"/>
                    </a:ext>
                  </a:extLst>
                </a:gridCol>
              </a:tblGrid>
              <a:tr h="818920">
                <a:tc>
                  <a:txBody>
                    <a:bodyPr/>
                    <a:lstStyle/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 length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Metric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Planning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Heuristic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Search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Expanded</a:t>
                      </a:r>
                      <a:r>
                        <a:rPr lang="it-IT" sz="1600" dirty="0"/>
                        <a:t> </a:t>
                      </a:r>
                      <a:r>
                        <a:rPr lang="it-IT" sz="1600" dirty="0" err="1"/>
                        <a:t>Nodes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States </a:t>
                      </a:r>
                      <a:r>
                        <a:rPr lang="it-IT" sz="1600" dirty="0" err="1"/>
                        <a:t>Evaluated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622544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81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72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264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322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400105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28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264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322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301184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171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156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422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543526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216.0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59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91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1646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216.0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69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143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278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5958350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1719B6E2-24D8-B477-3AEC-0A3AC721BE26}"/>
              </a:ext>
            </a:extLst>
          </p:cNvPr>
          <p:cNvSpPr txBox="1"/>
          <p:nvPr/>
        </p:nvSpPr>
        <p:spPr>
          <a:xfrm>
            <a:off x="143256" y="30480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Problem 1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580025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BCF1A29E-6EFA-18D4-85B0-EBD210F647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0648" y="1253331"/>
            <a:ext cx="3038096" cy="4351338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D2BF2872-9BFF-8283-8E98-9A78A5835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167094"/>
              </p:ext>
            </p:extLst>
          </p:nvPr>
        </p:nvGraphicFramePr>
        <p:xfrm>
          <a:off x="143256" y="1512480"/>
          <a:ext cx="8684126" cy="383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03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833781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802105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74821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818920">
                <a:tc>
                  <a:txBody>
                    <a:bodyPr/>
                    <a:lstStyle/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 length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Metric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Planning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Heuristic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Search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Expanded</a:t>
                      </a:r>
                      <a:r>
                        <a:rPr lang="it-IT" sz="1600" dirty="0"/>
                        <a:t> </a:t>
                      </a:r>
                      <a:r>
                        <a:rPr lang="it-IT" sz="1600" dirty="0" err="1"/>
                        <a:t>Nodes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States </a:t>
                      </a:r>
                      <a:r>
                        <a:rPr lang="it-IT" sz="1600" dirty="0" err="1"/>
                        <a:t>Evaluated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223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1063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2113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888.0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1063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2113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966.0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1031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794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794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1023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14814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614.0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122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653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1503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526.0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925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606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920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12742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15640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6C7010-AECF-E8E6-891D-E80C084C8D73}"/>
              </a:ext>
            </a:extLst>
          </p:cNvPr>
          <p:cNvSpPr txBox="1"/>
          <p:nvPr/>
        </p:nvSpPr>
        <p:spPr>
          <a:xfrm>
            <a:off x="143256" y="30480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Problem 2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2052336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Carattere&#10;&#10;Il contenuto generato dall'IA potrebbe non essere corretto.">
            <a:extLst>
              <a:ext uri="{FF2B5EF4-FFF2-40B4-BE49-F238E27FC236}">
                <a16:creationId xmlns:a16="http://schemas.microsoft.com/office/drawing/2014/main" id="{DBE6B766-9A33-A7B2-B07F-5DA402E6F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7740" y="1253331"/>
            <a:ext cx="3181004" cy="4351338"/>
          </a:xfrm>
          <a:prstGeom prst="rect">
            <a:avLst/>
          </a:prstGeom>
        </p:spPr>
      </p:pic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B623B2E8-320C-2554-D6C1-C87E77260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990771"/>
              </p:ext>
            </p:extLst>
          </p:nvPr>
        </p:nvGraphicFramePr>
        <p:xfrm>
          <a:off x="143256" y="1512480"/>
          <a:ext cx="8684126" cy="383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03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833781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802105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74821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818920">
                <a:tc>
                  <a:txBody>
                    <a:bodyPr/>
                    <a:lstStyle/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 length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Metric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Planning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Heuristic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Search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Expanded</a:t>
                      </a:r>
                      <a:r>
                        <a:rPr lang="it-IT" sz="1600" dirty="0"/>
                        <a:t> </a:t>
                      </a:r>
                      <a:r>
                        <a:rPr lang="it-IT" sz="1600" dirty="0" err="1"/>
                        <a:t>Nodes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States </a:t>
                      </a:r>
                      <a:r>
                        <a:rPr lang="it-IT" sz="1600" dirty="0" err="1"/>
                        <a:t>Evaluated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1648.0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14943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12987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14939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401887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1648.0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15443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13029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15438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401887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1616.0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211018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4910931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7168511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779.0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8494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7117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8490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118341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211332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674.0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39047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30356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39040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741790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935732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1E4CBB9D-0818-C2B2-DBB1-500BE3BEA049}"/>
              </a:ext>
            </a:extLst>
          </p:cNvPr>
          <p:cNvSpPr txBox="1"/>
          <p:nvPr/>
        </p:nvSpPr>
        <p:spPr>
          <a:xfrm>
            <a:off x="143256" y="30480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Problem 3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20948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3BA231-4E2D-3BA4-8357-2318AD89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h_add and h_max</a:t>
            </a:r>
            <a:endParaRPr lang="it-IT" dirty="0"/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33EEFBC1-4264-AD15-D89A-4BCA081A9A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398721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10312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A40E97-87F4-2FB3-3C7D-55C1FF7A8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0E5EBC-7814-19B8-BB78-08315D674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1829342-97EA-A335-5552-035BD98DF18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(move office park1)</a:t>
            </a:r>
          </a:p>
          <a:p>
            <a:pPr marL="0" indent="0">
              <a:buNone/>
            </a:pPr>
            <a:r>
              <a:rPr lang="en-US" dirty="0"/>
              <a:t>(move park1 restaurant)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p1 restaurant)</a:t>
            </a:r>
          </a:p>
          <a:p>
            <a:pPr marL="0" indent="0">
              <a:buNone/>
            </a:pPr>
            <a:r>
              <a:rPr lang="en-US" dirty="0"/>
              <a:t>(move restaurant school)</a:t>
            </a:r>
          </a:p>
          <a:p>
            <a:pPr marL="0" indent="0">
              <a:buNone/>
            </a:pPr>
            <a:r>
              <a:rPr lang="en-US" dirty="0"/>
              <a:t>(move school park2)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 p1 park2)</a:t>
            </a:r>
          </a:p>
          <a:p>
            <a:pPr marL="0" indent="0">
              <a:buNone/>
            </a:pPr>
            <a:r>
              <a:rPr lang="en-US" dirty="0"/>
              <a:t>(move park2 school)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p2 school)</a:t>
            </a:r>
          </a:p>
          <a:p>
            <a:pPr marL="0" indent="0">
              <a:buNone/>
            </a:pPr>
            <a:r>
              <a:rPr lang="en-US" dirty="0"/>
              <a:t>(move school park2)</a:t>
            </a:r>
          </a:p>
          <a:p>
            <a:pPr marL="0" indent="0">
              <a:buNone/>
            </a:pPr>
            <a:r>
              <a:rPr lang="en-US" dirty="0"/>
              <a:t>(move park2 office)</a:t>
            </a:r>
          </a:p>
          <a:p>
            <a:pPr marL="0" indent="0">
              <a:buNone/>
            </a:pPr>
            <a:r>
              <a:rPr lang="en-US" dirty="0"/>
              <a:t> (</a:t>
            </a:r>
            <a:r>
              <a:rPr lang="en-US" dirty="0" err="1"/>
              <a:t>getOff</a:t>
            </a:r>
            <a:r>
              <a:rPr lang="en-US" dirty="0"/>
              <a:t> p2 office)</a:t>
            </a:r>
            <a:endParaRPr lang="it-IT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932E6D7-BB05-D606-FC9B-6CC4D5CF6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WA* h_max</a:t>
            </a:r>
            <a:endParaRPr lang="it-IT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74E4D1B-BD5E-17F2-69FE-DF569CA8E38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(move office park1)</a:t>
            </a:r>
          </a:p>
          <a:p>
            <a:pPr marL="0" indent="0">
              <a:buNone/>
            </a:pPr>
            <a:r>
              <a:rPr lang="en-US" dirty="0"/>
              <a:t>(move park1 restaurant)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p1 restaurant)</a:t>
            </a:r>
          </a:p>
          <a:p>
            <a:pPr marL="0" indent="0">
              <a:buNone/>
            </a:pPr>
            <a:r>
              <a:rPr lang="en-US" dirty="0"/>
              <a:t>(move restaurant bank)</a:t>
            </a:r>
          </a:p>
          <a:p>
            <a:pPr marL="0" indent="0">
              <a:buNone/>
            </a:pPr>
            <a:r>
              <a:rPr lang="en-US" dirty="0"/>
              <a:t>(move bank park2)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 p1 park2)</a:t>
            </a:r>
          </a:p>
          <a:p>
            <a:pPr marL="0" indent="0">
              <a:buNone/>
            </a:pPr>
            <a:r>
              <a:rPr lang="en-US" dirty="0"/>
              <a:t>(move park2 school)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p2 school)</a:t>
            </a:r>
          </a:p>
          <a:p>
            <a:pPr marL="0" indent="0">
              <a:buNone/>
            </a:pPr>
            <a:r>
              <a:rPr lang="en-US" dirty="0"/>
              <a:t>(move school park2)</a:t>
            </a:r>
          </a:p>
          <a:p>
            <a:pPr marL="0" indent="0">
              <a:buNone/>
            </a:pPr>
            <a:r>
              <a:rPr lang="en-US" dirty="0"/>
              <a:t>(move park2 office)</a:t>
            </a:r>
          </a:p>
          <a:p>
            <a:pPr marL="0" indent="0">
              <a:buNone/>
            </a:pPr>
            <a:r>
              <a:rPr lang="en-US" dirty="0"/>
              <a:t> (</a:t>
            </a:r>
            <a:r>
              <a:rPr lang="en-US" dirty="0" err="1"/>
              <a:t>getOff</a:t>
            </a:r>
            <a:r>
              <a:rPr lang="en-US" dirty="0"/>
              <a:t> p2 office)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7790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41304-D584-12B0-A95B-6F3B50D0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1838C5-1DA3-CAC6-923D-17584FFC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126589"/>
            <a:ext cx="10515600" cy="823913"/>
          </a:xfrm>
        </p:spPr>
        <p:txBody>
          <a:bodyPr/>
          <a:lstStyle/>
          <a:p>
            <a:r>
              <a:rPr lang="en-US" dirty="0"/>
              <a:t>Problem 2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603B981-FA77-61F4-C382-1232192D5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401337"/>
            <a:ext cx="5157787" cy="823912"/>
          </a:xfrm>
        </p:spPr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CF65EF-4990-88F8-019A-081E06AD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1499997"/>
            <a:ext cx="5330063" cy="5130419"/>
          </a:xfrm>
        </p:spPr>
        <p:txBody>
          <a:bodyPr numCol="2">
            <a:normAutofit lnSpcReduction="10000"/>
          </a:bodyPr>
          <a:lstStyle/>
          <a:p>
            <a:pPr marL="0" indent="0">
              <a:buNone/>
            </a:pPr>
            <a:r>
              <a:rPr lang="en-US" sz="1200" dirty="0"/>
              <a:t>(move office park2)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(move apartment2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</a:p>
          <a:p>
            <a:pPr marL="0" indent="0">
              <a:buNone/>
            </a:pPr>
            <a:r>
              <a:rPr lang="en-US" sz="1200" dirty="0"/>
              <a:t>(move mall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(move apartment2 pub)</a:t>
            </a:r>
          </a:p>
          <a:p>
            <a:pPr marL="0" indent="0">
              <a:buNone/>
            </a:pPr>
            <a:r>
              <a:rPr lang="en-US" sz="1200" dirty="0"/>
              <a:t>(move pub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office)</a:t>
            </a:r>
          </a:p>
          <a:p>
            <a:pPr marL="0" indent="0">
              <a:buNone/>
            </a:pPr>
            <a:r>
              <a:rPr lang="en-US" sz="1200" dirty="0"/>
              <a:t>(move office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apartment1)</a:t>
            </a:r>
          </a:p>
          <a:p>
            <a:pPr marL="0" indent="0">
              <a:buNone/>
            </a:pPr>
            <a:r>
              <a:rPr lang="en-US" sz="1200" dirty="0"/>
              <a:t>(move apartment1 office)</a:t>
            </a:r>
          </a:p>
          <a:p>
            <a:pPr marL="0" indent="0">
              <a:buNone/>
            </a:pPr>
            <a:r>
              <a:rPr lang="en-US" sz="1200" dirty="0"/>
              <a:t>(move office park1)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park1)</a:t>
            </a:r>
          </a:p>
          <a:p>
            <a:pPr marL="0" indent="0">
              <a:buNone/>
            </a:pPr>
            <a:r>
              <a:rPr lang="en-US" sz="1200" dirty="0"/>
              <a:t>(move park1 office)</a:t>
            </a:r>
          </a:p>
          <a:p>
            <a:pPr marL="0" indent="0">
              <a:buNone/>
            </a:pPr>
            <a:r>
              <a:rPr lang="en-US" sz="1200" dirty="0"/>
              <a:t>(move office park2)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(move apartment2 airport)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airport)</a:t>
            </a:r>
            <a:endParaRPr lang="it-IT" sz="1200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2AD1779-A66F-A56B-9141-1C8F199506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401337"/>
            <a:ext cx="5183188" cy="823912"/>
          </a:xfrm>
        </p:spPr>
        <p:txBody>
          <a:bodyPr/>
          <a:lstStyle/>
          <a:p>
            <a:r>
              <a:rPr lang="en-US" dirty="0"/>
              <a:t>WA* h_max</a:t>
            </a:r>
            <a:endParaRPr lang="it-IT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8A16085C-3056-2625-CD5C-335A8E501330}"/>
              </a:ext>
            </a:extLst>
          </p:cNvPr>
          <p:cNvSpPr txBox="1">
            <a:spLocks/>
          </p:cNvSpPr>
          <p:nvPr/>
        </p:nvSpPr>
        <p:spPr>
          <a:xfrm>
            <a:off x="6194425" y="1499996"/>
            <a:ext cx="5330063" cy="513041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/>
              <a:t>(move office park1)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(move apartment2 airport)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airport)</a:t>
            </a:r>
          </a:p>
          <a:p>
            <a:pPr marL="0" indent="0">
              <a:buNone/>
            </a:pPr>
            <a:r>
              <a:rPr lang="en-US" sz="1200" dirty="0"/>
              <a:t>(move airport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(move apartment2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</a:p>
          <a:p>
            <a:pPr marL="0" indent="0">
              <a:buNone/>
            </a:pPr>
            <a:r>
              <a:rPr lang="en-US" sz="1200" dirty="0"/>
              <a:t>(move mall pub)</a:t>
            </a:r>
          </a:p>
          <a:p>
            <a:pPr marL="0" indent="0">
              <a:buNone/>
            </a:pPr>
            <a:r>
              <a:rPr lang="en-US" sz="1200" dirty="0"/>
              <a:t>(move pub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bank)</a:t>
            </a:r>
          </a:p>
          <a:p>
            <a:pPr marL="0" indent="0">
              <a:buNone/>
            </a:pPr>
            <a:r>
              <a:rPr lang="en-US" sz="1200" dirty="0"/>
              <a:t>(move bank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office)</a:t>
            </a:r>
          </a:p>
          <a:p>
            <a:pPr marL="0" indent="0">
              <a:buNone/>
            </a:pPr>
            <a:r>
              <a:rPr lang="en-US" sz="1200" dirty="0"/>
              <a:t>(move office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apartment1)</a:t>
            </a:r>
            <a:endParaRPr lang="it-IT" sz="1200" dirty="0"/>
          </a:p>
        </p:txBody>
      </p:sp>
    </p:spTree>
    <p:extLst>
      <p:ext uri="{BB962C8B-B14F-4D97-AF65-F5344CB8AC3E}">
        <p14:creationId xmlns:p14="http://schemas.microsoft.com/office/powerpoint/2010/main" val="37814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D242B-0BF6-66E8-0437-071CBAC9E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7E572A-B669-3BB5-0E65-4F38BDA8B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126589"/>
            <a:ext cx="10515600" cy="823913"/>
          </a:xfrm>
        </p:spPr>
        <p:txBody>
          <a:bodyPr/>
          <a:lstStyle/>
          <a:p>
            <a:r>
              <a:rPr lang="en-US" dirty="0"/>
              <a:t>Problem 3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86F3AC3-1263-EAD5-4504-284EF0010B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401337"/>
            <a:ext cx="5157787" cy="823912"/>
          </a:xfrm>
        </p:spPr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7B34DC-B6F1-FC66-6B20-58A5E6D71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1499997"/>
            <a:ext cx="5330063" cy="5130419"/>
          </a:xfrm>
        </p:spPr>
        <p:txBody>
          <a:bodyPr numCol="2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office1 park1)</a:t>
            </a:r>
          </a:p>
          <a:p>
            <a:pPr marL="0" indent="0">
              <a:buNone/>
            </a:pPr>
            <a:r>
              <a:rPr lang="en-US" sz="1200" dirty="0"/>
              <a:t>(move office1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(move mall apartment1)</a:t>
            </a:r>
          </a:p>
          <a:p>
            <a:pPr marL="0" indent="0">
              <a:buNone/>
            </a:pPr>
            <a:r>
              <a:rPr lang="en-US" sz="1200" dirty="0"/>
              <a:t>(move apartment1 hotel)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hotel)</a:t>
            </a:r>
          </a:p>
          <a:p>
            <a:pPr marL="0" indent="0">
              <a:buNone/>
            </a:pPr>
            <a:r>
              <a:rPr lang="en-US" sz="1200" dirty="0"/>
              <a:t>(move hotel chargeStation2)</a:t>
            </a:r>
          </a:p>
          <a:p>
            <a:pPr marL="0" indent="0">
              <a:buNone/>
            </a:pPr>
            <a:r>
              <a:rPr lang="en-US" sz="1200" dirty="0"/>
              <a:t>(recharge chargeStation2)</a:t>
            </a:r>
          </a:p>
          <a:p>
            <a:pPr marL="0" indent="0">
              <a:buNone/>
            </a:pPr>
            <a:r>
              <a:rPr lang="en-US" sz="1200" dirty="0"/>
              <a:t>(move chargeStation2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office1)</a:t>
            </a:r>
          </a:p>
          <a:p>
            <a:pPr marL="0" indent="0">
              <a:buNone/>
            </a:pPr>
            <a:r>
              <a:rPr lang="en-US" sz="1200" dirty="0"/>
              <a:t>(move office1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apartment1)</a:t>
            </a:r>
          </a:p>
          <a:p>
            <a:pPr marL="0" indent="0">
              <a:buNone/>
            </a:pPr>
            <a:r>
              <a:rPr lang="en-US" sz="1200" dirty="0"/>
              <a:t>(move apartment1 hotel)</a:t>
            </a:r>
          </a:p>
          <a:p>
            <a:pPr marL="0" indent="0">
              <a:buNone/>
            </a:pPr>
            <a:r>
              <a:rPr lang="en-US" sz="1200" dirty="0"/>
              <a:t>(move hotel chargeStation2)</a:t>
            </a:r>
          </a:p>
          <a:p>
            <a:pPr marL="0" indent="0">
              <a:buNone/>
            </a:pPr>
            <a:r>
              <a:rPr lang="en-US" sz="1200" dirty="0"/>
              <a:t>(recharge chargeStation2)</a:t>
            </a:r>
          </a:p>
          <a:p>
            <a:pPr marL="0" indent="0">
              <a:buNone/>
            </a:pPr>
            <a:r>
              <a:rPr lang="en-US" sz="1200" dirty="0"/>
              <a:t>(move chargeStation2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park1 office1)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(move restaurant park1)</a:t>
            </a:r>
          </a:p>
          <a:p>
            <a:pPr marL="0" indent="0">
              <a:buNone/>
            </a:pPr>
            <a:r>
              <a:rPr lang="en-US" sz="1200" dirty="0"/>
              <a:t>(move park1 office1)</a:t>
            </a:r>
          </a:p>
          <a:p>
            <a:pPr marL="0" indent="0">
              <a:buNone/>
            </a:pPr>
            <a:r>
              <a:rPr lang="en-US" sz="1200" dirty="0"/>
              <a:t>(move office1 apartment1)</a:t>
            </a:r>
          </a:p>
          <a:p>
            <a:pPr marL="0" indent="0">
              <a:buNone/>
            </a:pPr>
            <a:r>
              <a:rPr lang="en-US" sz="1200" dirty="0"/>
              <a:t>(move apartment1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  <a:endParaRPr lang="it-IT" sz="1200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D2264D6-7E9E-ED7A-DFF2-B25C2419E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401337"/>
            <a:ext cx="5183188" cy="823912"/>
          </a:xfrm>
        </p:spPr>
        <p:txBody>
          <a:bodyPr/>
          <a:lstStyle/>
          <a:p>
            <a:r>
              <a:rPr lang="en-US" dirty="0"/>
              <a:t>WA* h_max</a:t>
            </a:r>
            <a:endParaRPr lang="it-IT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B1FC3AA3-F214-428F-5500-5D6C5B6353AA}"/>
              </a:ext>
            </a:extLst>
          </p:cNvPr>
          <p:cNvSpPr txBox="1">
            <a:spLocks/>
          </p:cNvSpPr>
          <p:nvPr/>
        </p:nvSpPr>
        <p:spPr>
          <a:xfrm>
            <a:off x="6194425" y="1499996"/>
            <a:ext cx="5330063" cy="5130419"/>
          </a:xfrm>
          <a:prstGeom prst="rect">
            <a:avLst/>
          </a:prstGeom>
        </p:spPr>
        <p:txBody>
          <a:bodyPr vert="horz" lIns="91440" tIns="45720" rIns="91440" bIns="45720" numCol="2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office1 park1)</a:t>
            </a:r>
          </a:p>
          <a:p>
            <a:pPr marL="0" indent="0">
              <a:buNone/>
            </a:pPr>
            <a:r>
              <a:rPr lang="en-US" sz="1200" dirty="0"/>
              <a:t>(move office1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pub mall)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mall pub)</a:t>
            </a:r>
          </a:p>
          <a:p>
            <a:pPr marL="0" indent="0">
              <a:buNone/>
            </a:pPr>
            <a:r>
              <a:rPr lang="en-US" sz="1200" dirty="0"/>
              <a:t>(move mall pub)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pub)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pub mall)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(move mall apartment1)</a:t>
            </a:r>
          </a:p>
          <a:p>
            <a:pPr marL="0" indent="0">
              <a:buNone/>
            </a:pPr>
            <a:r>
              <a:rPr lang="en-US" sz="1200" dirty="0"/>
              <a:t>(move apartment1 hotel)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hotel)</a:t>
            </a:r>
          </a:p>
          <a:p>
            <a:pPr marL="0" indent="0">
              <a:buNone/>
            </a:pPr>
            <a:r>
              <a:rPr lang="en-US" sz="1200" dirty="0"/>
              <a:t>(move hotel chargeStation2)</a:t>
            </a:r>
          </a:p>
          <a:p>
            <a:pPr marL="0" indent="0">
              <a:buNone/>
            </a:pPr>
            <a:r>
              <a:rPr lang="en-US" sz="1200" dirty="0"/>
              <a:t>(recharge chargeStation2)</a:t>
            </a:r>
          </a:p>
          <a:p>
            <a:pPr marL="0" indent="0">
              <a:buNone/>
            </a:pPr>
            <a:r>
              <a:rPr lang="en-US" sz="1200" dirty="0"/>
              <a:t>(move chargeStation2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office1)</a:t>
            </a:r>
          </a:p>
          <a:p>
            <a:pPr marL="0" indent="0">
              <a:buNone/>
            </a:pPr>
            <a:r>
              <a:rPr lang="en-US" sz="1200" dirty="0"/>
              <a:t>(move office1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apartment1)</a:t>
            </a:r>
            <a:endParaRPr lang="it-IT" sz="1200" dirty="0"/>
          </a:p>
        </p:txBody>
      </p:sp>
    </p:spTree>
    <p:extLst>
      <p:ext uri="{BB962C8B-B14F-4D97-AF65-F5344CB8AC3E}">
        <p14:creationId xmlns:p14="http://schemas.microsoft.com/office/powerpoint/2010/main" val="41479033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803A-DC0A-C002-264E-183FE5D8A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Indigolog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31DE7-CC80-6D7E-8C6D-D1FDD8A7D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For </a:t>
            </a:r>
            <a:r>
              <a:rPr lang="it-IT" dirty="0" err="1"/>
              <a:t>performing</a:t>
            </a:r>
            <a:r>
              <a:rPr lang="it-IT" dirty="0"/>
              <a:t> the </a:t>
            </a:r>
            <a:r>
              <a:rPr lang="it-IT" dirty="0" err="1"/>
              <a:t>reasoning</a:t>
            </a:r>
            <a:r>
              <a:rPr lang="it-IT" dirty="0"/>
              <a:t> task with </a:t>
            </a:r>
            <a:r>
              <a:rPr lang="it-IT" dirty="0" err="1"/>
              <a:t>indigolog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simplified</a:t>
            </a:r>
            <a:r>
              <a:rPr lang="it-IT" dirty="0"/>
              <a:t> the domain by </a:t>
            </a:r>
            <a:r>
              <a:rPr lang="it-IT" dirty="0" err="1"/>
              <a:t>using</a:t>
            </a:r>
            <a:r>
              <a:rPr lang="it-IT" dirty="0"/>
              <a:t> the </a:t>
            </a:r>
            <a:r>
              <a:rPr lang="it-IT" dirty="0" err="1"/>
              <a:t>map</a:t>
            </a:r>
            <a:r>
              <a:rPr lang="it-IT" dirty="0"/>
              <a:t> of the first </a:t>
            </a:r>
            <a:r>
              <a:rPr lang="it-IT" dirty="0" err="1"/>
              <a:t>problem</a:t>
            </a:r>
            <a:r>
              <a:rPr lang="it-IT" dirty="0"/>
              <a:t>, </a:t>
            </a:r>
            <a:r>
              <a:rPr lang="it-IT" dirty="0" err="1"/>
              <a:t>removing</a:t>
            </a:r>
            <a:r>
              <a:rPr lang="it-IT" dirty="0"/>
              <a:t> </a:t>
            </a:r>
            <a:r>
              <a:rPr lang="it-IT" dirty="0" err="1"/>
              <a:t>thepossibility</a:t>
            </a:r>
            <a:r>
              <a:rPr lang="it-IT" dirty="0"/>
              <a:t> of </a:t>
            </a:r>
            <a:r>
              <a:rPr lang="it-IT" dirty="0" err="1"/>
              <a:t>traffic</a:t>
            </a:r>
            <a:r>
              <a:rPr lang="it-IT" dirty="0"/>
              <a:t> </a:t>
            </a:r>
            <a:r>
              <a:rPr lang="it-IT" dirty="0" err="1"/>
              <a:t>lights</a:t>
            </a:r>
            <a:r>
              <a:rPr lang="it-IT" dirty="0"/>
              <a:t> and </a:t>
            </a:r>
            <a:r>
              <a:rPr lang="it-IT" dirty="0" err="1"/>
              <a:t>congested</a:t>
            </a:r>
            <a:r>
              <a:rPr lang="it-IT" dirty="0"/>
              <a:t> locations.</a:t>
            </a:r>
          </a:p>
          <a:p>
            <a:pPr marL="0" indent="0">
              <a:buNone/>
            </a:pP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2 </a:t>
            </a:r>
            <a:r>
              <a:rPr lang="it-IT" dirty="0" err="1"/>
              <a:t>exogenous</a:t>
            </a:r>
            <a:r>
              <a:rPr lang="it-IT" dirty="0"/>
              <a:t> actions and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studied</a:t>
            </a:r>
            <a:r>
              <a:rPr lang="it-IT" dirty="0"/>
              <a:t> the </a:t>
            </a:r>
            <a:r>
              <a:rPr lang="it-IT" dirty="0" err="1"/>
              <a:t>behavior</a:t>
            </a:r>
            <a:r>
              <a:rPr lang="it-IT" dirty="0"/>
              <a:t> of </a:t>
            </a:r>
            <a:r>
              <a:rPr lang="it-IT" dirty="0" err="1"/>
              <a:t>our</a:t>
            </a:r>
            <a:r>
              <a:rPr lang="it-IT" dirty="0"/>
              <a:t> controllers in </a:t>
            </a:r>
            <a:r>
              <a:rPr lang="it-IT" dirty="0" err="1"/>
              <a:t>response</a:t>
            </a:r>
            <a:r>
              <a:rPr lang="it-IT" dirty="0"/>
              <a:t> to </a:t>
            </a:r>
            <a:r>
              <a:rPr lang="it-IT" dirty="0" err="1"/>
              <a:t>them</a:t>
            </a:r>
            <a:r>
              <a:rPr lang="it-IT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937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34F09-53C0-E52A-1174-072B9D4F0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Relational</a:t>
            </a:r>
            <a:r>
              <a:rPr lang="it-IT" dirty="0"/>
              <a:t> and </a:t>
            </a:r>
            <a:r>
              <a:rPr lang="it-IT" dirty="0" err="1"/>
              <a:t>functional</a:t>
            </a:r>
            <a:r>
              <a:rPr lang="it-IT" dirty="0"/>
              <a:t> </a:t>
            </a:r>
            <a:r>
              <a:rPr lang="it-IT" dirty="0" err="1"/>
              <a:t>fluents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E9DB7-61C2-C165-2FB5-64E93334C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55000" lnSpcReduction="20000"/>
          </a:bodyPr>
          <a:lstStyle/>
          <a:p>
            <a:r>
              <a:rPr lang="en-US" dirty="0" err="1"/>
              <a:t>taxi_at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</a:t>
            </a:r>
            <a:r>
              <a:rPr lang="en-US" dirty="0" err="1"/>
              <a:t>taxi_at</a:t>
            </a:r>
            <a:r>
              <a:rPr lang="en-US" dirty="0"/>
              <a:t>(L)) :- location(L).</a:t>
            </a:r>
          </a:p>
          <a:p>
            <a:pPr marL="0" indent="0">
              <a:buNone/>
            </a:pPr>
            <a:r>
              <a:rPr lang="en-US" dirty="0" err="1"/>
              <a:t>causes_true</a:t>
            </a:r>
            <a:r>
              <a:rPr lang="en-US" dirty="0"/>
              <a:t>(move(_, L2),  </a:t>
            </a:r>
            <a:r>
              <a:rPr lang="en-US" dirty="0" err="1"/>
              <a:t>taxi_at</a:t>
            </a:r>
            <a:r>
              <a:rPr lang="en-US" dirty="0"/>
              <a:t>(L2), true).</a:t>
            </a:r>
          </a:p>
          <a:p>
            <a:pPr marL="0" indent="0">
              <a:buNone/>
            </a:pPr>
            <a:r>
              <a:rPr lang="en-US" dirty="0" err="1"/>
              <a:t>causes_false</a:t>
            </a:r>
            <a:r>
              <a:rPr lang="en-US" dirty="0"/>
              <a:t>(move(L1, _), </a:t>
            </a:r>
            <a:r>
              <a:rPr lang="en-US" dirty="0" err="1"/>
              <a:t>taxi_at</a:t>
            </a:r>
            <a:r>
              <a:rPr lang="en-US" dirty="0"/>
              <a:t>(L1), true).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congested</a:t>
            </a:r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(congested(L)) :- location(L).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on_taxi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</a:t>
            </a:r>
            <a:r>
              <a:rPr lang="en-US" dirty="0" err="1"/>
              <a:t>on_taxi</a:t>
            </a:r>
            <a:r>
              <a:rPr lang="en-US" dirty="0"/>
              <a:t>(P)) :- passenger(P).</a:t>
            </a:r>
          </a:p>
          <a:p>
            <a:pPr marL="0" indent="0">
              <a:buNone/>
            </a:pPr>
            <a:r>
              <a:rPr lang="en-US" dirty="0" err="1"/>
              <a:t>causes_true</a:t>
            </a: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(P, _),  </a:t>
            </a:r>
            <a:r>
              <a:rPr lang="en-US" dirty="0" err="1"/>
              <a:t>on_taxi</a:t>
            </a:r>
            <a:r>
              <a:rPr lang="en-US" dirty="0"/>
              <a:t>(P), true).</a:t>
            </a:r>
          </a:p>
          <a:p>
            <a:pPr marL="0" indent="0">
              <a:buNone/>
            </a:pPr>
            <a:r>
              <a:rPr lang="en-US" dirty="0" err="1"/>
              <a:t>causes_false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_), </a:t>
            </a:r>
            <a:r>
              <a:rPr lang="en-US" dirty="0" err="1"/>
              <a:t>on_taxi</a:t>
            </a:r>
            <a:r>
              <a:rPr lang="en-US" dirty="0"/>
              <a:t>(P), true).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request_to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</a:t>
            </a:r>
            <a:r>
              <a:rPr lang="en-US" dirty="0" err="1"/>
              <a:t>request_to</a:t>
            </a:r>
            <a:r>
              <a:rPr lang="en-US" dirty="0"/>
              <a:t>(P, L)) :- passenger(P), location(L).</a:t>
            </a:r>
          </a:p>
          <a:p>
            <a:pPr marL="0" indent="0">
              <a:buNone/>
            </a:pPr>
            <a:r>
              <a:rPr lang="en-US" dirty="0" err="1"/>
              <a:t>causes_false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L), </a:t>
            </a:r>
            <a:r>
              <a:rPr lang="en-US" dirty="0" err="1"/>
              <a:t>request_to</a:t>
            </a:r>
            <a:r>
              <a:rPr lang="en-US" dirty="0"/>
              <a:t>(P, L), true).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battery_level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fun_fluent</a:t>
            </a:r>
            <a:r>
              <a:rPr lang="en-US" dirty="0"/>
              <a:t>(</a:t>
            </a:r>
            <a:r>
              <a:rPr lang="en-US" dirty="0" err="1"/>
              <a:t>battery_level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 err="1"/>
              <a:t>causes_val</a:t>
            </a:r>
            <a:r>
              <a:rPr lang="en-US" dirty="0"/>
              <a:t>(recharge(_), </a:t>
            </a:r>
            <a:r>
              <a:rPr lang="en-US" dirty="0" err="1"/>
              <a:t>battery_level</a:t>
            </a:r>
            <a:r>
              <a:rPr lang="en-US" dirty="0"/>
              <a:t>, 100, true).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passenger_at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</a:t>
            </a:r>
            <a:r>
              <a:rPr lang="en-US" dirty="0" err="1"/>
              <a:t>passenger_at</a:t>
            </a:r>
            <a:r>
              <a:rPr lang="en-US" dirty="0"/>
              <a:t>(P, L)) :- passenger(P), location(L).</a:t>
            </a:r>
          </a:p>
          <a:p>
            <a:pPr marL="0" indent="0">
              <a:buNone/>
            </a:pPr>
            <a:r>
              <a:rPr lang="en-US" dirty="0" err="1"/>
              <a:t>causes_false</a:t>
            </a: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(P, L), </a:t>
            </a:r>
            <a:r>
              <a:rPr lang="en-US" dirty="0" err="1"/>
              <a:t>passenger_at</a:t>
            </a:r>
            <a:r>
              <a:rPr lang="en-US" dirty="0"/>
              <a:t>(P, L), true).</a:t>
            </a:r>
          </a:p>
          <a:p>
            <a:pPr marL="0" indent="0">
              <a:buNone/>
            </a:pPr>
            <a:r>
              <a:rPr lang="en-US" dirty="0" err="1"/>
              <a:t>causes_true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L), </a:t>
            </a:r>
            <a:r>
              <a:rPr lang="en-US" dirty="0" err="1"/>
              <a:t>passenger_at</a:t>
            </a:r>
            <a:r>
              <a:rPr lang="en-US" dirty="0"/>
              <a:t>(P, L), true).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0968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10F89-554E-580F-ADC1-7ABE730D3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F7810-45AA-A8B8-80FD-7490FE794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55000" lnSpcReduction="20000"/>
          </a:bodyPr>
          <a:lstStyle/>
          <a:p>
            <a:r>
              <a:rPr lang="en-US" dirty="0" err="1"/>
              <a:t>prim_action</a:t>
            </a:r>
            <a:r>
              <a:rPr lang="en-US" dirty="0"/>
              <a:t>(move(L1, L2)) :- location(L1), location(L2).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poss</a:t>
            </a:r>
            <a:r>
              <a:rPr lang="en-US" dirty="0"/>
              <a:t>(move(L1, L2),</a:t>
            </a:r>
          </a:p>
          <a:p>
            <a:pPr marL="0" indent="0">
              <a:buNone/>
            </a:pPr>
            <a:r>
              <a:rPr lang="en-US" dirty="0"/>
              <a:t>      and(</a:t>
            </a:r>
            <a:r>
              <a:rPr lang="en-US" dirty="0" err="1"/>
              <a:t>taxi_at</a:t>
            </a:r>
            <a:r>
              <a:rPr lang="en-US" dirty="0"/>
              <a:t>(L1),</a:t>
            </a:r>
          </a:p>
          <a:p>
            <a:pPr marL="0" indent="0">
              <a:buNone/>
            </a:pPr>
            <a:r>
              <a:rPr lang="en-US" dirty="0"/>
              <a:t>        and(road(L1, L2),</a:t>
            </a:r>
          </a:p>
          <a:p>
            <a:pPr marL="0" indent="0">
              <a:buNone/>
            </a:pPr>
            <a:r>
              <a:rPr lang="en-US" dirty="0"/>
              <a:t>          (</a:t>
            </a:r>
            <a:r>
              <a:rPr lang="en-US" dirty="0" err="1"/>
              <a:t>battery_level</a:t>
            </a:r>
            <a:r>
              <a:rPr lang="en-US" dirty="0"/>
              <a:t> &gt; (D * C)))</a:t>
            </a:r>
          </a:p>
          <a:p>
            <a:pPr marL="0" indent="0">
              <a:buNone/>
            </a:pPr>
            <a:r>
              <a:rPr lang="en-US" dirty="0"/>
              <a:t>            )) :- distance(L1, L2, D), </a:t>
            </a:r>
            <a:r>
              <a:rPr lang="en-US" dirty="0" err="1"/>
              <a:t>cost_per_distance</a:t>
            </a:r>
            <a:r>
              <a:rPr lang="en-US" dirty="0"/>
              <a:t>(C).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dirty="0" err="1"/>
              <a:t>prim_action</a:t>
            </a:r>
            <a:r>
              <a:rPr lang="en-US" dirty="0"/>
              <a:t>(recharge(L)) :- location(L).</a:t>
            </a:r>
          </a:p>
          <a:p>
            <a:pPr marL="0" indent="0">
              <a:buNone/>
            </a:pPr>
            <a:r>
              <a:rPr lang="en-US" dirty="0" err="1"/>
              <a:t>poss</a:t>
            </a:r>
            <a:r>
              <a:rPr lang="en-US" dirty="0"/>
              <a:t>(recharge(L),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charge_station</a:t>
            </a:r>
            <a:r>
              <a:rPr lang="en-US" dirty="0"/>
              <a:t>(L),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taxi_at</a:t>
            </a:r>
            <a:r>
              <a:rPr lang="en-US" dirty="0"/>
              <a:t>(L),</a:t>
            </a:r>
          </a:p>
          <a:p>
            <a:pPr marL="0" indent="0">
              <a:buNone/>
            </a:pPr>
            <a:r>
              <a:rPr lang="en-US" dirty="0"/>
              <a:t>        </a:t>
            </a:r>
            <a:r>
              <a:rPr lang="en-US" dirty="0" err="1"/>
              <a:t>battery_level</a:t>
            </a:r>
            <a:r>
              <a:rPr lang="en-US" dirty="0"/>
              <a:t> &lt; 100))).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prim_action</a:t>
            </a: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(P, L)) :- passenger(P), location(L).</a:t>
            </a:r>
          </a:p>
          <a:p>
            <a:pPr marL="0" indent="0">
              <a:buNone/>
            </a:pPr>
            <a:r>
              <a:rPr lang="en-US" dirty="0" err="1"/>
              <a:t>poss</a:t>
            </a: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(P, 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passenger_at</a:t>
            </a:r>
            <a:r>
              <a:rPr lang="en-US" dirty="0"/>
              <a:t>(P, 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taxi_at</a:t>
            </a:r>
            <a:r>
              <a:rPr lang="en-US" dirty="0"/>
              <a:t>(L),</a:t>
            </a:r>
          </a:p>
          <a:p>
            <a:pPr marL="0" indent="0">
              <a:buNone/>
            </a:pPr>
            <a:r>
              <a:rPr lang="en-US" dirty="0"/>
              <a:t>        neg(some(j, </a:t>
            </a:r>
            <a:r>
              <a:rPr lang="en-US" dirty="0" err="1"/>
              <a:t>on_taxi</a:t>
            </a:r>
            <a:r>
              <a:rPr lang="en-US" dirty="0"/>
              <a:t>(j)))))).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dirty="0" err="1"/>
              <a:t>prim_action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L)) :- passenger(P), location(L).</a:t>
            </a:r>
          </a:p>
          <a:p>
            <a:pPr marL="0" indent="0">
              <a:buNone/>
            </a:pPr>
            <a:r>
              <a:rPr lang="en-US" dirty="0" err="1"/>
              <a:t>poss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on_taxi</a:t>
            </a:r>
            <a:r>
              <a:rPr lang="en-US" dirty="0"/>
              <a:t>(P),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taxi_at</a:t>
            </a:r>
            <a:r>
              <a:rPr lang="en-US" dirty="0"/>
              <a:t>(L),</a:t>
            </a:r>
          </a:p>
          <a:p>
            <a:pPr marL="0" indent="0">
              <a:buNone/>
            </a:pPr>
            <a:r>
              <a:rPr lang="en-US" dirty="0"/>
              <a:t>        </a:t>
            </a:r>
            <a:r>
              <a:rPr lang="en-US" dirty="0" err="1"/>
              <a:t>request_to</a:t>
            </a:r>
            <a:r>
              <a:rPr lang="en-US" dirty="0"/>
              <a:t>(P, L)))).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110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FB86-5FFD-8A24-EF6B-09965235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Exogenous</a:t>
            </a:r>
            <a:r>
              <a:rPr lang="it-IT" dirty="0"/>
              <a:t> actions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D1C17-3036-E326-7CEB-B38D2D6F5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added</a:t>
            </a:r>
            <a:r>
              <a:rPr lang="it-IT" dirty="0"/>
              <a:t> </a:t>
            </a:r>
            <a:r>
              <a:rPr lang="it-IT" dirty="0" err="1"/>
              <a:t>three</a:t>
            </a:r>
            <a:r>
              <a:rPr lang="it-IT" dirty="0"/>
              <a:t> </a:t>
            </a:r>
            <a:r>
              <a:rPr lang="it-IT" dirty="0" err="1"/>
              <a:t>exogenous</a:t>
            </a:r>
            <a:r>
              <a:rPr lang="it-IT" dirty="0"/>
              <a:t> actions to test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reactive</a:t>
            </a:r>
            <a:r>
              <a:rPr lang="it-IT" dirty="0"/>
              <a:t> controller:</a:t>
            </a:r>
          </a:p>
          <a:p>
            <a:r>
              <a:rPr lang="it-IT" dirty="0" err="1"/>
              <a:t>move_p</a:t>
            </a:r>
            <a:r>
              <a:rPr lang="it-IT" dirty="0"/>
              <a:t>: </a:t>
            </a:r>
            <a:r>
              <a:rPr lang="it-IT" dirty="0" err="1"/>
              <a:t>moves</a:t>
            </a:r>
            <a:r>
              <a:rPr lang="it-IT" dirty="0"/>
              <a:t> a </a:t>
            </a:r>
            <a:r>
              <a:rPr lang="it-IT" dirty="0" err="1"/>
              <a:t>passenger</a:t>
            </a:r>
            <a:r>
              <a:rPr lang="it-IT" dirty="0"/>
              <a:t> from </a:t>
            </a:r>
            <a:r>
              <a:rPr lang="it-IT" dirty="0" err="1"/>
              <a:t>its</a:t>
            </a:r>
            <a:r>
              <a:rPr lang="it-IT" dirty="0"/>
              <a:t> location to </a:t>
            </a:r>
            <a:r>
              <a:rPr lang="it-IT" dirty="0" err="1"/>
              <a:t>another</a:t>
            </a:r>
            <a:r>
              <a:rPr lang="it-IT" dirty="0"/>
              <a:t>.</a:t>
            </a:r>
          </a:p>
          <a:p>
            <a:r>
              <a:rPr lang="it-IT" dirty="0"/>
              <a:t>call: </a:t>
            </a:r>
            <a:r>
              <a:rPr lang="it-IT" dirty="0" err="1"/>
              <a:t>creates</a:t>
            </a:r>
            <a:r>
              <a:rPr lang="it-IT" dirty="0"/>
              <a:t> a new </a:t>
            </a:r>
            <a:r>
              <a:rPr lang="it-IT" dirty="0" err="1"/>
              <a:t>request</a:t>
            </a:r>
            <a:r>
              <a:rPr lang="it-IT" dirty="0"/>
              <a:t>, </a:t>
            </a:r>
            <a:r>
              <a:rPr lang="it-IT" dirty="0" err="1"/>
              <a:t>deleting</a:t>
            </a:r>
            <a:r>
              <a:rPr lang="it-IT" dirty="0"/>
              <a:t> the </a:t>
            </a:r>
            <a:r>
              <a:rPr lang="it-IT" dirty="0" err="1"/>
              <a:t>old</a:t>
            </a:r>
            <a:r>
              <a:rPr lang="it-IT" dirty="0"/>
              <a:t> one from the </a:t>
            </a:r>
            <a:r>
              <a:rPr lang="it-IT" dirty="0" err="1"/>
              <a:t>same</a:t>
            </a:r>
            <a:r>
              <a:rPr lang="it-IT" dirty="0"/>
              <a:t> </a:t>
            </a:r>
            <a:r>
              <a:rPr lang="it-IT" dirty="0" err="1"/>
              <a:t>passenger</a:t>
            </a:r>
            <a:r>
              <a:rPr lang="it-IT" dirty="0"/>
              <a:t>.</a:t>
            </a:r>
          </a:p>
          <a:p>
            <a:r>
              <a:rPr lang="it-IT" dirty="0"/>
              <a:t>start/end: makes a location </a:t>
            </a:r>
            <a:r>
              <a:rPr lang="it-IT" dirty="0" err="1"/>
              <a:t>congested</a:t>
            </a:r>
            <a:r>
              <a:rPr lang="it-IT" dirty="0"/>
              <a:t> or makes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507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D0F2D-BE2E-4767-94EB-D20E61B37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Legality</a:t>
            </a:r>
            <a:r>
              <a:rPr lang="it-IT" dirty="0"/>
              <a:t> task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77E88-1A30-F475-E7DD-D74D09F59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it-IT" dirty="0"/>
              <a:t>To test the domain,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selected</a:t>
            </a:r>
            <a:r>
              <a:rPr lang="it-IT" dirty="0"/>
              <a:t> a </a:t>
            </a:r>
            <a:r>
              <a:rPr lang="it-IT" dirty="0" err="1"/>
              <a:t>series</a:t>
            </a:r>
            <a:r>
              <a:rPr lang="it-IT" dirty="0"/>
              <a:t> of actions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imput</a:t>
            </a:r>
            <a:r>
              <a:rPr lang="it-IT" dirty="0"/>
              <a:t> to the </a:t>
            </a:r>
            <a:r>
              <a:rPr lang="it-IT" dirty="0" err="1"/>
              <a:t>legality</a:t>
            </a:r>
            <a:r>
              <a:rPr lang="it-IT" dirty="0"/>
              <a:t> task, to check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executability</a:t>
            </a:r>
            <a:r>
              <a:rPr lang="it-IT" dirty="0"/>
              <a:t>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The task:</a:t>
            </a:r>
            <a:br>
              <a:rPr lang="it-IT" dirty="0"/>
            </a:br>
            <a:r>
              <a:rPr lang="en-US" dirty="0"/>
              <a:t>[move(park1, restaurant), move(restaurant, school), </a:t>
            </a:r>
            <a:r>
              <a:rPr lang="en-US" dirty="0" err="1"/>
              <a:t>pickUp</a:t>
            </a:r>
            <a:r>
              <a:rPr lang="en-US" dirty="0"/>
              <a:t>(p2, school), move(school, restaurant), </a:t>
            </a:r>
            <a:r>
              <a:rPr lang="en-US" dirty="0" err="1"/>
              <a:t>getOff</a:t>
            </a:r>
            <a:r>
              <a:rPr lang="en-US" dirty="0"/>
              <a:t>(p2, restaurant)].</a:t>
            </a:r>
          </a:p>
          <a:p>
            <a:pPr marL="0" indent="0">
              <a:buNone/>
            </a:pPr>
            <a:r>
              <a:rPr lang="en-US" dirty="0"/>
              <a:t>proved legal.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task:</a:t>
            </a:r>
          </a:p>
          <a:p>
            <a:pPr marL="0" indent="0">
              <a:buNone/>
            </a:pPr>
            <a:r>
              <a:rPr lang="en-US" dirty="0"/>
              <a:t>[move(park1, restaurant), move(restaurant, school), </a:t>
            </a:r>
            <a:r>
              <a:rPr lang="en-US" dirty="0" err="1"/>
              <a:t>pickUp</a:t>
            </a:r>
            <a:r>
              <a:rPr lang="en-US" dirty="0"/>
              <a:t>(p2, school), </a:t>
            </a:r>
            <a:r>
              <a:rPr lang="en-US" dirty="0" err="1"/>
              <a:t>getOff</a:t>
            </a:r>
            <a:r>
              <a:rPr lang="en-US" dirty="0"/>
              <a:t>(p2, school)].</a:t>
            </a:r>
          </a:p>
          <a:p>
            <a:pPr marL="0" indent="0">
              <a:buNone/>
            </a:pPr>
            <a:r>
              <a:rPr lang="en-US" dirty="0"/>
              <a:t>proved illegal, due to the lack of a request of p2 to reach school.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632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6B2755-46B6-A821-D539-696FB0C32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Projection task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8DDB4BE-EF19-8B76-7AD8-50314AE79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For the projection task we wanted to check if a series of actions led to a desired state.</a:t>
            </a:r>
          </a:p>
          <a:p>
            <a:pPr marL="0" indent="0">
              <a:buNone/>
            </a:pPr>
            <a:r>
              <a:rPr lang="en-US" dirty="0"/>
              <a:t>Write the condition 'and(f1(), neg(f2())).':</a:t>
            </a:r>
          </a:p>
          <a:p>
            <a:pPr marL="0" indent="0">
              <a:buNone/>
            </a:pPr>
            <a:r>
              <a:rPr lang="en-US" dirty="0"/>
              <a:t>|: and(</a:t>
            </a:r>
            <a:r>
              <a:rPr lang="en-US" dirty="0" err="1"/>
              <a:t>taxi_at</a:t>
            </a:r>
            <a:r>
              <a:rPr lang="en-US" dirty="0"/>
              <a:t>(office), neg(</a:t>
            </a:r>
            <a:r>
              <a:rPr lang="en-US" dirty="0" err="1"/>
              <a:t>request_to</a:t>
            </a:r>
            <a:r>
              <a:rPr lang="en-US" dirty="0"/>
              <a:t>(p1, pub))).</a:t>
            </a:r>
          </a:p>
          <a:p>
            <a:pPr marL="0" indent="0">
              <a:buNone/>
            </a:pPr>
            <a:r>
              <a:rPr lang="en-US" dirty="0"/>
              <a:t>Write the sequence of actions '[a1(), ..., an()].':</a:t>
            </a:r>
          </a:p>
          <a:p>
            <a:pPr marL="0" indent="0">
              <a:buNone/>
            </a:pPr>
            <a:r>
              <a:rPr lang="en-US" dirty="0"/>
              <a:t>|: [move(park1, office), </a:t>
            </a:r>
            <a:r>
              <a:rPr lang="en-US" dirty="0" err="1"/>
              <a:t>pickUp</a:t>
            </a:r>
            <a:r>
              <a:rPr lang="en-US" dirty="0"/>
              <a:t>(p1, office), move(office, park2), move(park2, school), move(school, pub), </a:t>
            </a:r>
            <a:r>
              <a:rPr lang="en-US" dirty="0" err="1"/>
              <a:t>getOff</a:t>
            </a:r>
            <a:r>
              <a:rPr lang="en-US" dirty="0"/>
              <a:t>(p1, pub), move(pub, school), move(school, park2), move(park2, office)].</a:t>
            </a:r>
          </a:p>
          <a:p>
            <a:pPr marL="0" indent="0">
              <a:buNone/>
            </a:pPr>
            <a:r>
              <a:rPr lang="en-US" dirty="0"/>
              <a:t>Condition and(</a:t>
            </a:r>
            <a:r>
              <a:rPr lang="en-US" dirty="0" err="1"/>
              <a:t>taxi_at</a:t>
            </a:r>
            <a:r>
              <a:rPr lang="en-US" dirty="0"/>
              <a:t>(office),neg(</a:t>
            </a:r>
            <a:r>
              <a:rPr lang="en-US" dirty="0" err="1"/>
              <a:t>request_to</a:t>
            </a:r>
            <a:r>
              <a:rPr lang="en-US" dirty="0"/>
              <a:t>(p1,pub))) HOLDS after executing [move(park1,office),</a:t>
            </a:r>
            <a:r>
              <a:rPr lang="en-US" dirty="0" err="1"/>
              <a:t>pickUp</a:t>
            </a:r>
            <a:r>
              <a:rPr lang="en-US" dirty="0"/>
              <a:t>(p1,office),move(office,park2),move(park2,school),move(</a:t>
            </a:r>
            <a:r>
              <a:rPr lang="en-US" dirty="0" err="1"/>
              <a:t>school,pub</a:t>
            </a:r>
            <a:r>
              <a:rPr lang="en-US" dirty="0"/>
              <a:t>),</a:t>
            </a:r>
            <a:r>
              <a:rPr lang="en-US" dirty="0" err="1"/>
              <a:t>getOff</a:t>
            </a:r>
            <a:r>
              <a:rPr lang="en-US" dirty="0"/>
              <a:t>(p1,pub),move(</a:t>
            </a:r>
            <a:r>
              <a:rPr lang="en-US" dirty="0" err="1"/>
              <a:t>pub,school</a:t>
            </a:r>
            <a:r>
              <a:rPr lang="en-US" dirty="0"/>
              <a:t>),move(school,park2),move(park2,office)] true.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81970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B8278F-19E6-47D4-B228-8CDD91843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238186-5F03-A095-17B1-76B3EF13B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706226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2763</Words>
  <Application>Microsoft Office PowerPoint</Application>
  <PresentationFormat>Widescreen</PresentationFormat>
  <Paragraphs>476</Paragraphs>
  <Slides>21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Tema di Office</vt:lpstr>
      <vt:lpstr>Taxi Planning </vt:lpstr>
      <vt:lpstr>Domain</vt:lpstr>
      <vt:lpstr>PDDL</vt:lpstr>
      <vt:lpstr>Presentazione standard di PowerPoint</vt:lpstr>
      <vt:lpstr>Actions </vt:lpstr>
      <vt:lpstr>Presentazione standard di PowerPoint</vt:lpstr>
      <vt:lpstr>Problems</vt:lpstr>
      <vt:lpstr>Presentazione standard di PowerPoint</vt:lpstr>
      <vt:lpstr>Presentazione standard di PowerPoint</vt:lpstr>
      <vt:lpstr>Presentazione standard di PowerPoint</vt:lpstr>
      <vt:lpstr>Comparing h_add and h_max</vt:lpstr>
      <vt:lpstr>Problem 1</vt:lpstr>
      <vt:lpstr>Problem 2</vt:lpstr>
      <vt:lpstr>Problem 3</vt:lpstr>
      <vt:lpstr>Indigolog</vt:lpstr>
      <vt:lpstr>Relational and functional fluents</vt:lpstr>
      <vt:lpstr>Actions</vt:lpstr>
      <vt:lpstr>Exogenous actions</vt:lpstr>
      <vt:lpstr>Legality task</vt:lpstr>
      <vt:lpstr>Projection task</vt:lpstr>
      <vt:lpstr>cntroller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Di Nola</dc:creator>
  <cp:lastModifiedBy>Giovanni Di Nola</cp:lastModifiedBy>
  <cp:revision>5</cp:revision>
  <dcterms:created xsi:type="dcterms:W3CDTF">2026-02-10T18:32:19Z</dcterms:created>
  <dcterms:modified xsi:type="dcterms:W3CDTF">2026-02-11T20:32:57Z</dcterms:modified>
</cp:coreProperties>
</file>