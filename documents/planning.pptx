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WA* h_add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63</c:v>
                </c:pt>
                <c:pt idx="1">
                  <c:v>195</c:v>
                </c:pt>
                <c:pt idx="2">
                  <c:v>84.94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WA* h_max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Problem 1 (ms)</c:v>
                </c:pt>
                <c:pt idx="1">
                  <c:v>Problem 2 (ms)</c:v>
                </c:pt>
                <c:pt idx="2">
                  <c:v>Problem 3 (ds)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74</c:v>
                </c:pt>
                <c:pt idx="1">
                  <c:v>925</c:v>
                </c:pt>
                <c:pt idx="2">
                  <c:v>390.47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6F5684-165C-ED2B-2F44-ECC4A4F599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B043A99-B0D5-989D-3ECD-6CD563AD3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1CA953-262F-362C-E084-5D4DDBA6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BA7AD4-AFFA-6E7E-076E-60A6C22CC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C76CC99-EB14-0742-3FAD-D236BF8B8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13416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9F51B-9838-98C5-3945-91187594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FFA563-1D52-F4DB-A18C-B8C0FA707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6B1D167-B09E-4171-0AA1-A46186E54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2D41CDE-7450-7C60-CF49-0F92C2E6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F9D7E2-361D-271D-3B10-CF5157F6B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5233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FAF62A-7CD0-0B77-7B9C-E7B8A8E88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0AE3636-90AF-28E8-52C1-8A7568E8C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6BF92-844C-AAD3-C64E-BEFD8943D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B4092F8-D73A-01C3-D336-78480C31D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5CB543F-94B4-1652-B4A6-161920BD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775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35CFE8-813B-6BA9-4A7D-F8755EC6A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31D12F-5F17-50FC-F83B-709D517E01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F9C56BC-7378-7159-E889-AC2D5D61C3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E52EE87-0FB9-7272-A592-F5DC11312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BF29533-90F9-B73F-80A6-557453E31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9F2B354-F13C-B560-449D-630541E6E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757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2E8E9A-6ADF-07C2-DF9F-18BCF9E70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73EABB-5BD7-EA6B-01DB-C5A57DB66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2E2D897-FA4F-3C86-27B2-1ED8112AB5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24235102-3DFD-DD54-E372-605B6B6974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244FE67-1DB8-383F-A971-A536E89280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83C8AE79-DDEF-A339-8391-45E831E87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0305550-E05C-9BE4-7339-A1F921120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BC06688-A015-F7FA-DF90-68B3B0CC6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7095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C47396-2299-19C0-C39D-3E9D117F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6DC78CC-78D8-7A11-8BB1-ECDA95C15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3ED834-17CC-DD61-3324-BACBC356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6A52C0D-1046-78AA-D672-909462C1D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469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AB49CA5-2B87-347A-CEEC-11CAFC38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FD9185D-D91C-8568-B56D-84CE9663D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DCE5FCE-C894-F8F6-9A56-4FBD7EDC2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953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899464-4A33-F8C7-9931-19A83609C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738EB6-E63A-5ECF-D5DE-27B71EEFB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D96091-03BC-588E-09DE-1D8E65268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020AFEA-3CD1-C9C3-9CCE-4343AAD80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667A065-D3F7-1443-2F23-4B6103F0C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CAD753-614B-3B0D-EE61-74413D4F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586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232BD0-5C10-F8D6-951D-A47752C60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241C44-3584-F15E-22C0-CCA355893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E301E05-D4F7-C017-6F11-EFCAA652C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DE8352-38DD-5379-1E25-5089FDBD0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515904F-71FC-91CD-FA32-15B83EE79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1CBB7F1-068F-14DF-4E4C-5042AC0D9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6318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CC135-ABBC-B0E0-1FD3-B2C9CA06D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54D2FB2-A58F-D59A-D6D5-AB774E2CF7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6FB4C3B-9D36-C3E0-6A53-2FEFE9F2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41AE5E0-1A5F-5A4C-01CB-C733B0FCB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C0706D-DF97-63E1-B57C-0603C0F0F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5340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A67CB28-7EDA-027B-DB9C-416916A740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4DC1145-71D2-C9BE-E304-DAF93B2F11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A9AB012-A5E3-6CE2-1874-14621E277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A617C2-1B9C-9304-2284-8E10EDFEE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AF0174-00E6-1FAA-6DA9-B41707E4E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0416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DFED4-5F9A-269F-9381-E1E7028BF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CE1B115-1952-A4D1-811C-21B93BD46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F21508-2D48-0A3F-1F30-B941543D63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11/02/2026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2833DC-C397-F9FE-40AF-F131B73F0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897650-AC7C-D595-F390-E4358C34A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0325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Taxi Planning	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Giovanni Di Nola 1894682</a:t>
            </a:r>
          </a:p>
          <a:p>
            <a:r>
              <a:rPr lang="en-US" dirty="0"/>
              <a:t>Serena Ragaglia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Domain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dirty="0"/>
              <a:t>Clients are in a location and have an active request to reach a destination. The taxi has to reach the location, pick up the client, reach the location and drop him off. </a:t>
            </a:r>
          </a:p>
          <a:p>
            <a:pPr marL="0" indent="0">
              <a:buNone/>
            </a:pPr>
            <a:r>
              <a:rPr lang="en-US" dirty="0"/>
              <a:t>The taxi has limited battery,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dirty="0"/>
              <a:t>Traffic lights and congestions increase the cost of crossing specific locations and roads.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45B820-4CD0-9552-EEDE-708493B34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PDDL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(road ?l1 ?l2 –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trafficLight</a:t>
            </a:r>
            <a:r>
              <a:rPr lang="en-US" b="1" dirty="0"/>
              <a:t> ?l1 ?l2 -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lightColor</a:t>
            </a:r>
            <a:r>
              <a:rPr lang="en-US" b="1" dirty="0"/>
              <a:t> ?c - color ?l1 ?l2 -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taxiAt</a:t>
            </a:r>
            <a:r>
              <a:rPr lang="en-US" b="1" dirty="0"/>
              <a:t>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the current location of the taxi. The taxi can only be at one location at a time.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755776"/>
            <a:ext cx="10710672" cy="6038215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(</a:t>
            </a:r>
            <a:r>
              <a:rPr lang="en-US" b="1" dirty="0" err="1"/>
              <a:t>passengerAt</a:t>
            </a:r>
            <a:r>
              <a:rPr lang="en-US" b="1" dirty="0"/>
              <a:t> ?p - passenger ?l - location)`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requestTo</a:t>
            </a:r>
            <a:r>
              <a:rPr lang="en-US" b="1" dirty="0"/>
              <a:t> ?p - passenger ?l - location)`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onTaxi</a:t>
            </a:r>
            <a:r>
              <a:rPr lang="en-US" b="1" dirty="0"/>
              <a:t> ?p - passenger)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(congested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b="1" dirty="0"/>
              <a:t>(</a:t>
            </a:r>
            <a:r>
              <a:rPr lang="en-US" b="1" dirty="0" err="1"/>
              <a:t>chargeStation</a:t>
            </a:r>
            <a:r>
              <a:rPr lang="en-US" b="1" dirty="0"/>
              <a:t> ?l - location)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647321-4305-0B6D-F19C-D79AF64C3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616" y="0"/>
            <a:ext cx="10515600" cy="1325563"/>
          </a:xfrm>
        </p:spPr>
        <p:txBody>
          <a:bodyPr/>
          <a:lstStyle/>
          <a:p>
            <a:r>
              <a:rPr lang="en-US" dirty="0"/>
              <a:t>Actions </a:t>
            </a:r>
            <a:endParaRPr lang="it-IT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0075035"/>
              </p:ext>
            </p:extLst>
          </p:nvPr>
        </p:nvGraphicFramePr>
        <p:xfrm>
          <a:off x="737616" y="1203832"/>
          <a:ext cx="11012424" cy="5315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4335489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543335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502215">
                <a:tc>
                  <a:txBody>
                    <a:bodyPr/>
                    <a:lstStyle/>
                    <a:p>
                      <a:r>
                        <a:rPr lang="en-US" dirty="0"/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(?l1 ?l2 -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Taxi must be at location ?l1.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road must exist from ?l1 to ?l2.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there's a traffic light, it must be green.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Taxi is now at location ?l2 (no longer at ?l1).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there was a green traffic light: it switches to red.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19068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switchLight</a:t>
                      </a:r>
                      <a:endParaRPr lang="it-IT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(?l1 ?l2 -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traffic light must exist between ?l1 and ?l2.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light must currently be red.</a:t>
                      </a:r>
                    </a:p>
                    <a:p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Light color changes from red to green.</a:t>
                      </a:r>
                    </a:p>
                    <a:p>
                      <a:r>
                        <a:rPr lang="en-US" sz="1400" dirty="0"/>
                        <a:t>Total cost increases by 3.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906813">
                <a:tc>
                  <a:txBody>
                    <a:bodyPr/>
                    <a:lstStyle/>
                    <a:p>
                      <a:r>
                        <a:rPr lang="en-US" b="1" dirty="0"/>
                        <a:t>Recharge</a:t>
                      </a:r>
                      <a:endParaRPr lang="en-US" b="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(?l - location)</a:t>
                      </a:r>
                    </a:p>
                    <a:p>
                      <a:endParaRPr lang="it-IT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Location ?l must have a charging station.</a:t>
                      </a:r>
                    </a:p>
                    <a:p>
                      <a:r>
                        <a:rPr lang="en-US" sz="1400" dirty="0"/>
                        <a:t>Taxi must be at location ?l.</a:t>
                      </a:r>
                    </a:p>
                    <a:p>
                      <a:r>
                        <a:rPr lang="en-US" sz="1400" dirty="0"/>
                        <a:t>Battery level must be less than 100.</a:t>
                      </a:r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Battery level is set to 100.</a:t>
                      </a:r>
                    </a:p>
                    <a:p>
                      <a:r>
                        <a:rPr lang="en-US" sz="1400" dirty="0"/>
                        <a:t>Total cost increases by 10.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4203874"/>
              </p:ext>
            </p:extLst>
          </p:nvPr>
        </p:nvGraphicFramePr>
        <p:xfrm>
          <a:off x="838200" y="1389888"/>
          <a:ext cx="10515597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dirty="0" err="1"/>
                        <a:t>pickUp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(?p - </a:t>
                      </a:r>
                      <a:r>
                        <a:rPr lang="it-IT" sz="1800" b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it-IT" sz="1800" b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?l - location)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Passenger ?p must be at location ?l.</a:t>
                      </a:r>
                    </a:p>
                    <a:p>
                      <a:r>
                        <a:rPr lang="en-US" sz="1400" b="0" dirty="0"/>
                        <a:t>Taxi must be at location ?l.</a:t>
                      </a:r>
                    </a:p>
                    <a:p>
                      <a:r>
                        <a:rPr lang="en-US" sz="1400" b="0" dirty="0"/>
                        <a:t>Passenger must have an active request.</a:t>
                      </a:r>
                    </a:p>
                    <a:p>
                      <a:r>
                        <a:rPr lang="en-US" sz="1400" b="0" dirty="0"/>
                        <a:t>No other passenger can be in the taxi.</a:t>
                      </a:r>
                      <a:endParaRPr lang="it-IT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Passenger is no longer at location ?l.</a:t>
                      </a:r>
                    </a:p>
                    <a:p>
                      <a:r>
                        <a:rPr lang="en-US" sz="1400" b="0" dirty="0"/>
                        <a:t>Passenger is now on the taxi.</a:t>
                      </a:r>
                      <a:endParaRPr lang="it-IT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b="1" dirty="0" err="1"/>
                        <a:t>getOff</a:t>
                      </a:r>
                      <a:endParaRPr lang="en-US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(?p - </a:t>
                      </a:r>
                      <a:r>
                        <a:rPr lang="it-IT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passenger</a:t>
                      </a:r>
                      <a:r>
                        <a:rPr lang="it-I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?l - location)</a:t>
                      </a:r>
                    </a:p>
                    <a:p>
                      <a:endParaRPr lang="it-IT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Passenger ?p must be on the taxi.</a:t>
                      </a:r>
                    </a:p>
                    <a:p>
                      <a:r>
                        <a:rPr lang="en-US" sz="1400" dirty="0"/>
                        <a:t>Taxi must be at location ?l.</a:t>
                      </a:r>
                    </a:p>
                    <a:p>
                      <a:r>
                        <a:rPr lang="en-US" sz="1400" dirty="0"/>
                        <a:t>Location ?l must be the passenger’s requested destination.</a:t>
                      </a:r>
                      <a:endParaRPr lang="it-IT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Passenger is no longer on the taxi.</a:t>
                      </a:r>
                    </a:p>
                    <a:p>
                      <a:r>
                        <a:rPr lang="en-US" sz="1400" dirty="0"/>
                        <a:t>Passenger is now at location ?l.</a:t>
                      </a:r>
                    </a:p>
                    <a:p>
                      <a:r>
                        <a:rPr lang="en-US" sz="1400" dirty="0"/>
                        <a:t>Passenger's request to location ?l is fulfilled.</a:t>
                      </a:r>
                      <a:endParaRPr lang="it-IT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the problem files the various initial states change based on:</a:t>
            </a:r>
          </a:p>
          <a:p>
            <a:r>
              <a:rPr lang="en-US" dirty="0"/>
              <a:t>Number of locations</a:t>
            </a:r>
          </a:p>
          <a:p>
            <a:r>
              <a:rPr lang="en-US" dirty="0"/>
              <a:t>Number of requests</a:t>
            </a:r>
          </a:p>
          <a:p>
            <a:r>
              <a:rPr lang="en-US" dirty="0"/>
              <a:t>Presence of congested roads</a:t>
            </a:r>
          </a:p>
          <a:p>
            <a:r>
              <a:rPr lang="en-US" dirty="0"/>
              <a:t>Presence of traffic lights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3310458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81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264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28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264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171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77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156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313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422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59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37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91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/>
                        <a:t>216.0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69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143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278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1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4338" y="1155715"/>
            <a:ext cx="3174406" cy="454657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167094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888.0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223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2113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888.0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1063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2113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966.0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1031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794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794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1023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14814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614.0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653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1503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526.0</a:t>
                      </a:r>
                      <a:endParaRPr lang="it-IT" sz="1600" dirty="0"/>
                    </a:p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925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606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920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12742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15640</a:t>
                      </a:r>
                      <a:endParaRPr lang="it-IT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6C7010-AECF-E8E6-891D-E80C084C8D73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2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4943" y="1187635"/>
            <a:ext cx="3277057" cy="4482730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990771"/>
              </p:ext>
            </p:extLst>
          </p:nvPr>
        </p:nvGraphicFramePr>
        <p:xfrm>
          <a:off x="143256" y="1512480"/>
          <a:ext cx="8684126" cy="383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3503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833781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802105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74821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818920">
                <a:tc>
                  <a:txBody>
                    <a:bodyPr/>
                    <a:lstStyle/>
                    <a:p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 length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Metric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Planning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Heuristic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Search Time (</a:t>
                      </a:r>
                      <a:r>
                        <a:rPr lang="en-US" sz="1600" dirty="0" err="1"/>
                        <a:t>ms</a:t>
                      </a:r>
                      <a:r>
                        <a:rPr lang="en-US" sz="1600" dirty="0"/>
                        <a:t>)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Expanded</a:t>
                      </a:r>
                      <a:r>
                        <a:rPr lang="it-IT" sz="1600" dirty="0"/>
                        <a:t> </a:t>
                      </a:r>
                      <a:r>
                        <a:rPr lang="it-IT" sz="1600" dirty="0" err="1"/>
                        <a:t>Nodes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States </a:t>
                      </a:r>
                      <a:r>
                        <a:rPr lang="it-IT" sz="1600" dirty="0" err="1"/>
                        <a:t>Evaluated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1648.0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14943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12987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14939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401887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83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1648.0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15443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13029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15438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401887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Greedy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81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1616.0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211018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250121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4910931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7168511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h_add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39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779.0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8494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8490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118341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211332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602016">
                <a:tc>
                  <a:txBody>
                    <a:bodyPr/>
                    <a:lstStyle/>
                    <a:p>
                      <a:r>
                        <a:rPr lang="en-US" sz="1600" dirty="0"/>
                        <a:t>WA* h_max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36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674.0</a:t>
                      </a:r>
                      <a:endParaRPr lang="it-IT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39047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30356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39040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741790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600" dirty="0"/>
                        <a:t>935732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1E4CBB9D-0818-C2B2-DBB1-500BE3BEA049}"/>
              </a:ext>
            </a:extLst>
          </p:cNvPr>
          <p:cNvSpPr txBox="1"/>
          <p:nvPr/>
        </p:nvSpPr>
        <p:spPr>
          <a:xfrm>
            <a:off x="143256" y="304800"/>
            <a:ext cx="7650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Problem 3</a:t>
            </a:r>
            <a:endParaRPr lang="it-IT" sz="4000" dirty="0"/>
          </a:p>
        </p:txBody>
      </p: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h_add and h_max</a:t>
            </a:r>
            <a:endParaRPr lang="it-IT" dirty="0"/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33EEFBC1-4264-AD15-D89A-4BCA081A9A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98721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1829342-97EA-A335-5552-035BD98DF18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(move office park1)</a:t>
            </a:r>
          </a:p>
          <a:p>
            <a:pPr marL="0" indent="0">
              <a:buNone/>
            </a:pPr>
            <a:r>
              <a:rPr lang="en-US" dirty="0"/>
              <a:t>(move park1 restaurant)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p1 restaurant)</a:t>
            </a:r>
          </a:p>
          <a:p>
            <a:pPr marL="0" indent="0">
              <a:buNone/>
            </a:pPr>
            <a:r>
              <a:rPr lang="en-US" dirty="0"/>
              <a:t>(move restaurant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 p1 park2)</a:t>
            </a:r>
          </a:p>
          <a:p>
            <a:pPr marL="0" indent="0">
              <a:buNone/>
            </a:pPr>
            <a:r>
              <a:rPr lang="en-US" dirty="0"/>
              <a:t>(move park2 school)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p2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(move park2 office)</a:t>
            </a:r>
          </a:p>
          <a:p>
            <a:pPr marL="0" indent="0">
              <a:buNone/>
            </a:pPr>
            <a:r>
              <a:rPr lang="en-US" dirty="0"/>
              <a:t> (</a:t>
            </a:r>
            <a:r>
              <a:rPr lang="en-US" dirty="0" err="1"/>
              <a:t>getOff</a:t>
            </a:r>
            <a:r>
              <a:rPr lang="en-US" dirty="0"/>
              <a:t> p2 office)</a:t>
            </a:r>
            <a:endParaRPr lang="it-IT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(move office park1)</a:t>
            </a:r>
          </a:p>
          <a:p>
            <a:pPr marL="0" indent="0">
              <a:buNone/>
            </a:pPr>
            <a:r>
              <a:rPr lang="en-US" dirty="0"/>
              <a:t>(move park1 restaurant)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p1 restaurant)</a:t>
            </a:r>
          </a:p>
          <a:p>
            <a:pPr marL="0" indent="0">
              <a:buNone/>
            </a:pPr>
            <a:r>
              <a:rPr lang="en-US" dirty="0"/>
              <a:t>(move restaurant bank)</a:t>
            </a:r>
          </a:p>
          <a:p>
            <a:pPr marL="0" indent="0">
              <a:buNone/>
            </a:pPr>
            <a:r>
              <a:rPr lang="en-US" dirty="0"/>
              <a:t>(move bank park2)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 p1 park2)</a:t>
            </a:r>
          </a:p>
          <a:p>
            <a:pPr marL="0" indent="0">
              <a:buNone/>
            </a:pPr>
            <a:r>
              <a:rPr lang="en-US" dirty="0"/>
              <a:t>(move park2 school)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 p2 school)</a:t>
            </a:r>
          </a:p>
          <a:p>
            <a:pPr marL="0" indent="0">
              <a:buNone/>
            </a:pPr>
            <a:r>
              <a:rPr lang="en-US" dirty="0"/>
              <a:t>(move school park2)</a:t>
            </a:r>
          </a:p>
          <a:p>
            <a:pPr marL="0" indent="0">
              <a:buNone/>
            </a:pPr>
            <a:r>
              <a:rPr lang="en-US" dirty="0"/>
              <a:t>(move park2 office)</a:t>
            </a:r>
          </a:p>
          <a:p>
            <a:pPr marL="0" indent="0">
              <a:buNone/>
            </a:pPr>
            <a:r>
              <a:rPr lang="en-US" dirty="0"/>
              <a:t> (</a:t>
            </a:r>
            <a:r>
              <a:rPr lang="en-US" dirty="0" err="1"/>
              <a:t>getOff</a:t>
            </a:r>
            <a:r>
              <a:rPr lang="en-US" dirty="0"/>
              <a:t> p2 office)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1838C5-1DA3-CAC6-923D-17584FFC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26589"/>
            <a:ext cx="10515600" cy="823913"/>
          </a:xfrm>
        </p:spPr>
        <p:txBody>
          <a:bodyPr/>
          <a:lstStyle/>
          <a:p>
            <a:r>
              <a:rPr lang="en-US" dirty="0"/>
              <a:t>Problem 2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401337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1499997"/>
            <a:ext cx="5330063" cy="5130419"/>
          </a:xfrm>
        </p:spPr>
        <p:txBody>
          <a:bodyPr numCol="2">
            <a:normAutofit lnSpcReduction="10000"/>
          </a:bodyPr>
          <a:lstStyle/>
          <a:p>
            <a:pPr marL="0" indent="0">
              <a:buNone/>
            </a:pPr>
            <a:r>
              <a:rPr lang="en-US" sz="1200" dirty="0"/>
              <a:t>(move office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office)</a:t>
            </a:r>
          </a:p>
          <a:p>
            <a:pPr marL="0" indent="0">
              <a:buNone/>
            </a:pPr>
            <a:r>
              <a:rPr lang="en-US" sz="1200" dirty="0"/>
              <a:t>(move office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apartment1)</a:t>
            </a:r>
          </a:p>
          <a:p>
            <a:pPr marL="0" indent="0">
              <a:buNone/>
            </a:pPr>
            <a:r>
              <a:rPr lang="en-US" sz="1200" dirty="0"/>
              <a:t>(move apartment1 office)</a:t>
            </a:r>
          </a:p>
          <a:p>
            <a:pPr marL="0" indent="0">
              <a:buNone/>
            </a:pPr>
            <a:r>
              <a:rPr lang="en-US" sz="1200" dirty="0"/>
              <a:t>(move office park1)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park1)</a:t>
            </a:r>
          </a:p>
          <a:p>
            <a:pPr marL="0" indent="0">
              <a:buNone/>
            </a:pPr>
            <a:r>
              <a:rPr lang="en-US" sz="1200" dirty="0"/>
              <a:t>(move park1 office)</a:t>
            </a:r>
          </a:p>
          <a:p>
            <a:pPr marL="0" indent="0">
              <a:buNone/>
            </a:pPr>
            <a:r>
              <a:rPr lang="en-US" sz="1200" dirty="0"/>
              <a:t>(move office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airport)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airport)</a:t>
            </a:r>
            <a:endParaRPr lang="it-IT" sz="1200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2AD1779-A66F-A56B-9141-1C8F199506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401337"/>
            <a:ext cx="5183188" cy="823912"/>
          </a:xfrm>
        </p:spPr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A16085C-3056-2625-CD5C-335A8E501330}"/>
              </a:ext>
            </a:extLst>
          </p:cNvPr>
          <p:cNvSpPr txBox="1">
            <a:spLocks/>
          </p:cNvSpPr>
          <p:nvPr/>
        </p:nvSpPr>
        <p:spPr>
          <a:xfrm>
            <a:off x="6194425" y="1499996"/>
            <a:ext cx="5330063" cy="513041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(move office park1)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(move apartment2 airport)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airport)</a:t>
            </a:r>
          </a:p>
          <a:p>
            <a:pPr marL="0" indent="0">
              <a:buNone/>
            </a:pPr>
            <a:r>
              <a:rPr lang="en-US" sz="1200" dirty="0"/>
              <a:t>(move airport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(move pub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bank)</a:t>
            </a:r>
          </a:p>
          <a:p>
            <a:pPr marL="0" indent="0">
              <a:buNone/>
            </a:pPr>
            <a:r>
              <a:rPr lang="en-US" sz="1200" dirty="0"/>
              <a:t>(move bank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office)</a:t>
            </a:r>
          </a:p>
          <a:p>
            <a:pPr marL="0" indent="0">
              <a:buNone/>
            </a:pPr>
            <a:r>
              <a:rPr lang="en-US" sz="1200" dirty="0"/>
              <a:t>(move office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apartment1)</a:t>
            </a: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572A-B669-3BB5-0E65-4F38BDA8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26589"/>
            <a:ext cx="10515600" cy="823913"/>
          </a:xfrm>
        </p:spPr>
        <p:txBody>
          <a:bodyPr/>
          <a:lstStyle/>
          <a:p>
            <a:r>
              <a:rPr lang="en-US" dirty="0"/>
              <a:t>Problem 3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401337"/>
            <a:ext cx="5157787" cy="823912"/>
          </a:xfrm>
        </p:spPr>
        <p:txBody>
          <a:bodyPr/>
          <a:lstStyle/>
          <a:p>
            <a:r>
              <a:rPr lang="en-US" dirty="0"/>
              <a:t>WA* h_add</a:t>
            </a:r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1499997"/>
            <a:ext cx="5330063" cy="5130419"/>
          </a:xfrm>
        </p:spPr>
        <p:txBody>
          <a:bodyPr numCol="2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office1 park1)</a:t>
            </a:r>
          </a:p>
          <a:p>
            <a:pPr marL="0" indent="0">
              <a:buNone/>
            </a:pPr>
            <a:r>
              <a:rPr lang="en-US" sz="1200" dirty="0"/>
              <a:t>(move office1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(move mall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park1 office1)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(move restaurant park1)</a:t>
            </a:r>
          </a:p>
          <a:p>
            <a:pPr marL="0" indent="0">
              <a:buNone/>
            </a:pPr>
            <a:r>
              <a:rPr lang="en-US" sz="1200" dirty="0"/>
              <a:t>(move park1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(move apartment1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  <a:endParaRPr lang="it-IT" sz="1200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D2264D6-7E9E-ED7A-DFF2-B25C2419E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401337"/>
            <a:ext cx="5183188" cy="823912"/>
          </a:xfrm>
        </p:spPr>
        <p:txBody>
          <a:bodyPr/>
          <a:lstStyle/>
          <a:p>
            <a:r>
              <a:rPr lang="en-US" dirty="0"/>
              <a:t>WA* h_max</a:t>
            </a:r>
            <a:endParaRPr lang="it-IT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B1FC3AA3-F214-428F-5500-5D6C5B6353AA}"/>
              </a:ext>
            </a:extLst>
          </p:cNvPr>
          <p:cNvSpPr txBox="1">
            <a:spLocks/>
          </p:cNvSpPr>
          <p:nvPr/>
        </p:nvSpPr>
        <p:spPr>
          <a:xfrm>
            <a:off x="6194425" y="1499996"/>
            <a:ext cx="5330063" cy="5130419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office1 park1)</a:t>
            </a:r>
          </a:p>
          <a:p>
            <a:pPr marL="0" indent="0">
              <a:buNone/>
            </a:pPr>
            <a:r>
              <a:rPr lang="en-US" sz="1200" dirty="0"/>
              <a:t>(move office1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(move restaurant apartment2)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p3 apartment2)</a:t>
            </a:r>
          </a:p>
          <a:p>
            <a:pPr marL="0" indent="0">
              <a:buNone/>
            </a:pPr>
            <a:r>
              <a:rPr lang="en-US" sz="1200" dirty="0"/>
              <a:t>(move apartment2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(move park2 chargeStation1)</a:t>
            </a:r>
          </a:p>
          <a:p>
            <a:pPr marL="0" indent="0">
              <a:buNone/>
            </a:pPr>
            <a:r>
              <a:rPr lang="en-US" sz="1200" dirty="0"/>
              <a:t>(recharge chargeStation1)</a:t>
            </a:r>
          </a:p>
          <a:p>
            <a:pPr marL="0" indent="0">
              <a:buNone/>
            </a:pPr>
            <a:r>
              <a:rPr lang="en-US" sz="1200" dirty="0"/>
              <a:t>(move chargeStation1 pub)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p3 mall)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mall pub)</a:t>
            </a:r>
          </a:p>
          <a:p>
            <a:pPr marL="0" indent="0">
              <a:buNone/>
            </a:pPr>
            <a:r>
              <a:rPr lang="en-US" sz="1200" dirty="0"/>
              <a:t>(move mall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p2 pub)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switchLight</a:t>
            </a:r>
            <a:r>
              <a:rPr lang="en-US" sz="1200" dirty="0"/>
              <a:t> pub mall)</a:t>
            </a:r>
          </a:p>
          <a:p>
            <a:pPr marL="0" indent="0">
              <a:buNone/>
            </a:pPr>
            <a:r>
              <a:rPr lang="en-US" sz="1200" dirty="0"/>
              <a:t>(move pub mall)</a:t>
            </a:r>
          </a:p>
          <a:p>
            <a:pPr marL="0" indent="0">
              <a:buNone/>
            </a:pPr>
            <a:r>
              <a:rPr lang="en-US" sz="1200" dirty="0"/>
              <a:t>(move mall apartment1)</a:t>
            </a:r>
          </a:p>
          <a:p>
            <a:pPr marL="0" indent="0">
              <a:buNone/>
            </a:pPr>
            <a:r>
              <a:rPr lang="en-US" sz="1200" dirty="0"/>
              <a:t>(move apartment1 hotel)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p2 hotel)</a:t>
            </a:r>
          </a:p>
          <a:p>
            <a:pPr marL="0" indent="0">
              <a:buNone/>
            </a:pPr>
            <a:r>
              <a:rPr lang="en-US" sz="1200" dirty="0"/>
              <a:t>(move hotel chargeStation2)</a:t>
            </a:r>
          </a:p>
          <a:p>
            <a:pPr marL="0" indent="0">
              <a:buNone/>
            </a:pPr>
            <a:r>
              <a:rPr lang="en-US" sz="1200" dirty="0"/>
              <a:t>(recharge chargeStation2)</a:t>
            </a:r>
          </a:p>
          <a:p>
            <a:pPr marL="0" indent="0">
              <a:buNone/>
            </a:pPr>
            <a:r>
              <a:rPr lang="en-US" sz="1200" dirty="0"/>
              <a:t>(move chargeStation2 park1)</a:t>
            </a:r>
          </a:p>
          <a:p>
            <a:pPr marL="0" indent="0">
              <a:buNone/>
            </a:pPr>
            <a:r>
              <a:rPr lang="en-US" sz="1200" dirty="0"/>
              <a:t>(move park1 restaurant)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p1 restaurant)</a:t>
            </a:r>
          </a:p>
          <a:p>
            <a:pPr marL="0" indent="0">
              <a:buNone/>
            </a:pPr>
            <a:r>
              <a:rPr lang="en-US" sz="1200" dirty="0"/>
              <a:t>(move restaurant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p1 park2)</a:t>
            </a:r>
          </a:p>
          <a:p>
            <a:pPr marL="0" indent="0">
              <a:buNone/>
            </a:pPr>
            <a:r>
              <a:rPr lang="en-US" sz="1200" dirty="0"/>
              <a:t>(move park2 school)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pickUp</a:t>
            </a:r>
            <a:r>
              <a:rPr lang="en-US" sz="1200" dirty="0"/>
              <a:t> p4 school)</a:t>
            </a:r>
          </a:p>
          <a:p>
            <a:pPr marL="0" indent="0">
              <a:buNone/>
            </a:pPr>
            <a:r>
              <a:rPr lang="en-US" sz="1200" dirty="0"/>
              <a:t>(move school park2)</a:t>
            </a:r>
          </a:p>
          <a:p>
            <a:pPr marL="0" indent="0">
              <a:buNone/>
            </a:pPr>
            <a:r>
              <a:rPr lang="en-US" sz="1200" dirty="0"/>
              <a:t>(move park2 office1)</a:t>
            </a:r>
          </a:p>
          <a:p>
            <a:pPr marL="0" indent="0">
              <a:buNone/>
            </a:pPr>
            <a:r>
              <a:rPr lang="en-US" sz="1200" dirty="0"/>
              <a:t>(move office1 apartment1)</a:t>
            </a:r>
          </a:p>
          <a:p>
            <a:pPr marL="0" indent="0">
              <a:buNone/>
            </a:pPr>
            <a:r>
              <a:rPr lang="en-US" sz="1200" dirty="0"/>
              <a:t>(</a:t>
            </a:r>
            <a:r>
              <a:rPr lang="en-US" sz="1200" dirty="0" err="1"/>
              <a:t>getOff</a:t>
            </a:r>
            <a:r>
              <a:rPr lang="en-US" sz="1200" dirty="0"/>
              <a:t> p4 apartment1)</a:t>
            </a:r>
            <a:endParaRPr lang="it-IT" sz="1200" dirty="0"/>
          </a:p>
        </p:txBody>
      </p: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803A-DC0A-C002-264E-183FE5D8A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Indigolog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31DE7-CC80-6D7E-8C6D-D1FDD8A7D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For </a:t>
            </a:r>
            <a:r>
              <a:rPr lang="it-IT" dirty="0" err="1"/>
              <a:t>performing</a:t>
            </a:r>
            <a:r>
              <a:rPr lang="it-IT" dirty="0"/>
              <a:t> the </a:t>
            </a:r>
            <a:r>
              <a:rPr lang="it-IT" dirty="0" err="1"/>
              <a:t>reasoning</a:t>
            </a:r>
            <a:r>
              <a:rPr lang="it-IT" dirty="0"/>
              <a:t> task with </a:t>
            </a:r>
            <a:r>
              <a:rPr lang="it-IT" dirty="0" err="1"/>
              <a:t>indigolog</a:t>
            </a:r>
            <a:r>
              <a:rPr lang="it-IT" dirty="0"/>
              <a:t>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simplified</a:t>
            </a:r>
            <a:r>
              <a:rPr lang="it-IT" dirty="0"/>
              <a:t> the domain by </a:t>
            </a:r>
            <a:r>
              <a:rPr lang="it-IT" dirty="0" err="1"/>
              <a:t>using</a:t>
            </a:r>
            <a:r>
              <a:rPr lang="it-IT" dirty="0"/>
              <a:t> the </a:t>
            </a:r>
            <a:r>
              <a:rPr lang="it-IT" dirty="0" err="1"/>
              <a:t>map</a:t>
            </a:r>
            <a:r>
              <a:rPr lang="it-IT" dirty="0"/>
              <a:t> of the first </a:t>
            </a:r>
            <a:r>
              <a:rPr lang="it-IT" dirty="0" err="1"/>
              <a:t>problem</a:t>
            </a:r>
            <a:r>
              <a:rPr lang="it-IT" dirty="0"/>
              <a:t>, </a:t>
            </a:r>
            <a:r>
              <a:rPr lang="it-IT" dirty="0" err="1"/>
              <a:t>removing</a:t>
            </a:r>
            <a:r>
              <a:rPr lang="it-IT" dirty="0"/>
              <a:t> </a:t>
            </a:r>
            <a:r>
              <a:rPr lang="it-IT" dirty="0" err="1"/>
              <a:t>thepossibility</a:t>
            </a:r>
            <a:r>
              <a:rPr lang="it-IT" dirty="0"/>
              <a:t> of </a:t>
            </a:r>
            <a:r>
              <a:rPr lang="it-IT" dirty="0" err="1"/>
              <a:t>traffic</a:t>
            </a:r>
            <a:r>
              <a:rPr lang="it-IT" dirty="0"/>
              <a:t> </a:t>
            </a:r>
            <a:r>
              <a:rPr lang="it-IT" dirty="0" err="1"/>
              <a:t>lights</a:t>
            </a:r>
            <a:r>
              <a:rPr lang="it-IT" dirty="0"/>
              <a:t> and </a:t>
            </a:r>
            <a:r>
              <a:rPr lang="it-IT" dirty="0" err="1"/>
              <a:t>congested</a:t>
            </a:r>
            <a:r>
              <a:rPr lang="it-IT" dirty="0"/>
              <a:t> locations.</a:t>
            </a:r>
          </a:p>
          <a:p>
            <a:pPr marL="0" indent="0">
              <a:buNone/>
            </a:pP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2 </a:t>
            </a:r>
            <a:r>
              <a:rPr lang="it-IT" dirty="0" err="1"/>
              <a:t>exogenous</a:t>
            </a:r>
            <a:r>
              <a:rPr lang="it-IT" dirty="0"/>
              <a:t> actions and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studied</a:t>
            </a:r>
            <a:r>
              <a:rPr lang="it-IT" dirty="0"/>
              <a:t> the </a:t>
            </a:r>
            <a:r>
              <a:rPr lang="it-IT" dirty="0" err="1"/>
              <a:t>behavior</a:t>
            </a:r>
            <a:r>
              <a:rPr lang="it-IT" dirty="0"/>
              <a:t> of </a:t>
            </a:r>
            <a:r>
              <a:rPr lang="it-IT" dirty="0" err="1"/>
              <a:t>our</a:t>
            </a:r>
            <a:r>
              <a:rPr lang="it-IT" dirty="0"/>
              <a:t> controllers in </a:t>
            </a:r>
            <a:r>
              <a:rPr lang="it-IT" dirty="0" err="1"/>
              <a:t>response</a:t>
            </a:r>
            <a:r>
              <a:rPr lang="it-IT" dirty="0"/>
              <a:t> to </a:t>
            </a:r>
            <a:r>
              <a:rPr lang="it-IT" dirty="0" err="1"/>
              <a:t>them</a:t>
            </a:r>
            <a:r>
              <a:rPr lang="it-IT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937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34F09-53C0-E52A-1174-072B9D4F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Relational</a:t>
            </a:r>
            <a:r>
              <a:rPr lang="it-IT" dirty="0"/>
              <a:t> and </a:t>
            </a:r>
            <a:r>
              <a:rPr lang="it-IT" dirty="0" err="1"/>
              <a:t>functional</a:t>
            </a:r>
            <a:r>
              <a:rPr lang="it-IT" dirty="0"/>
              <a:t> </a:t>
            </a:r>
            <a:r>
              <a:rPr lang="it-IT" dirty="0" err="1"/>
              <a:t>fluents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E9DB7-61C2-C165-2FB5-64E93334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55000" lnSpcReduction="20000"/>
          </a:bodyPr>
          <a:lstStyle/>
          <a:p>
            <a:r>
              <a:rPr lang="en-US" dirty="0" err="1"/>
              <a:t>taxi_at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taxi_at</a:t>
            </a:r>
            <a:r>
              <a:rPr lang="en-US" dirty="0"/>
              <a:t>(L)) :- location(L).</a:t>
            </a:r>
          </a:p>
          <a:p>
            <a:pPr marL="0" indent="0">
              <a:buNone/>
            </a:pPr>
            <a:r>
              <a:rPr lang="en-US" dirty="0" err="1"/>
              <a:t>causes_true</a:t>
            </a:r>
            <a:r>
              <a:rPr lang="en-US" dirty="0"/>
              <a:t>(move(_, L2),  </a:t>
            </a:r>
            <a:r>
              <a:rPr lang="en-US" dirty="0" err="1"/>
              <a:t>taxi_at</a:t>
            </a:r>
            <a:r>
              <a:rPr lang="en-US" dirty="0"/>
              <a:t>(L2), true).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(move(L1, _), </a:t>
            </a:r>
            <a:r>
              <a:rPr lang="en-US" dirty="0" err="1"/>
              <a:t>taxi_at</a:t>
            </a:r>
            <a:r>
              <a:rPr lang="en-US" dirty="0"/>
              <a:t>(L1), true).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congested</a:t>
            </a:r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(congested(L)) :- location(L).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on_taxi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on_taxi</a:t>
            </a:r>
            <a:r>
              <a:rPr lang="en-US" dirty="0"/>
              <a:t>(P)) :- passenger(P).</a:t>
            </a:r>
          </a:p>
          <a:p>
            <a:pPr marL="0" indent="0">
              <a:buNone/>
            </a:pPr>
            <a:r>
              <a:rPr lang="en-US" dirty="0" err="1"/>
              <a:t>causes_true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_),  </a:t>
            </a:r>
            <a:r>
              <a:rPr lang="en-US" dirty="0" err="1"/>
              <a:t>on_taxi</a:t>
            </a:r>
            <a:r>
              <a:rPr lang="en-US" dirty="0"/>
              <a:t>(P), true).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_), </a:t>
            </a:r>
            <a:r>
              <a:rPr lang="en-US" dirty="0" err="1"/>
              <a:t>on_taxi</a:t>
            </a:r>
            <a:r>
              <a:rPr lang="en-US" dirty="0"/>
              <a:t>(P), true).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request_to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request_to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L), </a:t>
            </a:r>
            <a:r>
              <a:rPr lang="en-US" dirty="0" err="1"/>
              <a:t>request_to</a:t>
            </a:r>
            <a:r>
              <a:rPr lang="en-US" dirty="0"/>
              <a:t>(P, L), true).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battery_level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fun_fluent</a:t>
            </a:r>
            <a:r>
              <a:rPr lang="en-US" dirty="0"/>
              <a:t>(</a:t>
            </a:r>
            <a:r>
              <a:rPr lang="en-US" dirty="0" err="1"/>
              <a:t>battery_level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 err="1"/>
              <a:t>causes_val</a:t>
            </a:r>
            <a:r>
              <a:rPr lang="en-US" dirty="0"/>
              <a:t>(recharge(_), </a:t>
            </a:r>
            <a:r>
              <a:rPr lang="en-US" dirty="0" err="1"/>
              <a:t>battery_level</a:t>
            </a:r>
            <a:r>
              <a:rPr lang="en-US" dirty="0"/>
              <a:t>, 100, true).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passenger_at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rel_fluent</a:t>
            </a:r>
            <a:r>
              <a:rPr lang="en-US" dirty="0"/>
              <a:t>(</a:t>
            </a:r>
            <a:r>
              <a:rPr lang="en-US" dirty="0" err="1"/>
              <a:t>passenger_at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causes_false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L), </a:t>
            </a:r>
            <a:r>
              <a:rPr lang="en-US" dirty="0" err="1"/>
              <a:t>passenger_at</a:t>
            </a:r>
            <a:r>
              <a:rPr lang="en-US" dirty="0"/>
              <a:t>(P, L), true).</a:t>
            </a:r>
          </a:p>
          <a:p>
            <a:pPr marL="0" indent="0">
              <a:buNone/>
            </a:pPr>
            <a:r>
              <a:rPr lang="en-US" dirty="0" err="1"/>
              <a:t>causes_true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L), </a:t>
            </a:r>
            <a:r>
              <a:rPr lang="en-US" dirty="0" err="1"/>
              <a:t>passenger_at</a:t>
            </a:r>
            <a:r>
              <a:rPr lang="en-US" dirty="0"/>
              <a:t>(P, L), true).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096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10F89-554E-580F-ADC1-7ABE730D3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F7810-45AA-A8B8-80FD-7490FE794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55000" lnSpcReduction="20000"/>
          </a:bodyPr>
          <a:lstStyle/>
          <a:p>
            <a:r>
              <a:rPr lang="en-US" dirty="0" err="1"/>
              <a:t>prim_action</a:t>
            </a:r>
            <a:r>
              <a:rPr lang="en-US" dirty="0"/>
              <a:t>(move(L1, L2)) :- location(L1), location(L2).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poss</a:t>
            </a:r>
            <a:r>
              <a:rPr lang="en-US" dirty="0"/>
              <a:t>(move(L1, L2),</a:t>
            </a:r>
          </a:p>
          <a:p>
            <a:pPr marL="0" indent="0">
              <a:buNone/>
            </a:pPr>
            <a:r>
              <a:rPr lang="en-US" dirty="0"/>
              <a:t>      and(</a:t>
            </a:r>
            <a:r>
              <a:rPr lang="en-US" dirty="0" err="1"/>
              <a:t>taxi_at</a:t>
            </a:r>
            <a:r>
              <a:rPr lang="en-US" dirty="0"/>
              <a:t>(L1),</a:t>
            </a:r>
          </a:p>
          <a:p>
            <a:pPr marL="0" indent="0">
              <a:buNone/>
            </a:pPr>
            <a:r>
              <a:rPr lang="en-US" dirty="0"/>
              <a:t>        and(road(L1, L2),</a:t>
            </a:r>
          </a:p>
          <a:p>
            <a:pPr marL="0" indent="0">
              <a:buNone/>
            </a:pPr>
            <a:r>
              <a:rPr lang="en-US" dirty="0"/>
              <a:t>          (</a:t>
            </a:r>
            <a:r>
              <a:rPr lang="en-US" dirty="0" err="1"/>
              <a:t>battery_level</a:t>
            </a:r>
            <a:r>
              <a:rPr lang="en-US" dirty="0"/>
              <a:t> &gt; (D * C)))</a:t>
            </a:r>
          </a:p>
          <a:p>
            <a:pPr marL="0" indent="0">
              <a:buNone/>
            </a:pPr>
            <a:r>
              <a:rPr lang="en-US" dirty="0"/>
              <a:t>            )) :- distance(L1, L2, D), </a:t>
            </a:r>
            <a:r>
              <a:rPr lang="en-US" dirty="0" err="1"/>
              <a:t>cost_per_distance</a:t>
            </a:r>
            <a:r>
              <a:rPr lang="en-US" dirty="0"/>
              <a:t>(C).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dirty="0" err="1"/>
              <a:t>prim_action</a:t>
            </a:r>
            <a:r>
              <a:rPr lang="en-US" dirty="0"/>
              <a:t>(recharge(L)) :- location(L).</a:t>
            </a:r>
          </a:p>
          <a:p>
            <a:pPr marL="0" indent="0">
              <a:buNone/>
            </a:pPr>
            <a:r>
              <a:rPr lang="en-US" dirty="0" err="1"/>
              <a:t>poss</a:t>
            </a:r>
            <a:r>
              <a:rPr lang="en-US" dirty="0"/>
              <a:t>(recharge(L),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charge_station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taxi_at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    </a:t>
            </a:r>
            <a:r>
              <a:rPr lang="en-US" dirty="0" err="1"/>
              <a:t>battery_level</a:t>
            </a:r>
            <a:r>
              <a:rPr lang="en-US" dirty="0"/>
              <a:t> &lt; 100))).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prim_action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poss</a:t>
            </a:r>
            <a:r>
              <a:rPr lang="en-US" dirty="0"/>
              <a:t>(</a:t>
            </a:r>
            <a:r>
              <a:rPr lang="en-US" dirty="0" err="1"/>
              <a:t>pickUp</a:t>
            </a:r>
            <a:r>
              <a:rPr lang="en-US" dirty="0"/>
              <a:t>(P, 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passenger_at</a:t>
            </a:r>
            <a:r>
              <a:rPr lang="en-US" dirty="0"/>
              <a:t>(P, 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taxi_at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    neg(some(j, </a:t>
            </a:r>
            <a:r>
              <a:rPr lang="en-US" dirty="0" err="1"/>
              <a:t>on_taxi</a:t>
            </a:r>
            <a:r>
              <a:rPr lang="en-US" dirty="0"/>
              <a:t>(j)))))).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r>
              <a:rPr lang="en-US" dirty="0" err="1"/>
              <a:t>prim_action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L)) :- passenger(P), location(L).</a:t>
            </a:r>
          </a:p>
          <a:p>
            <a:pPr marL="0" indent="0">
              <a:buNone/>
            </a:pPr>
            <a:r>
              <a:rPr lang="en-US" dirty="0" err="1"/>
              <a:t>poss</a:t>
            </a:r>
            <a:r>
              <a:rPr lang="en-US" dirty="0"/>
              <a:t>(</a:t>
            </a:r>
            <a:r>
              <a:rPr lang="en-US" dirty="0" err="1"/>
              <a:t>getOff</a:t>
            </a:r>
            <a:r>
              <a:rPr lang="en-US" dirty="0"/>
              <a:t>(P, L),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on_taxi</a:t>
            </a:r>
            <a:r>
              <a:rPr lang="en-US" dirty="0"/>
              <a:t>(P),</a:t>
            </a:r>
          </a:p>
          <a:p>
            <a:pPr marL="0" indent="0">
              <a:buNone/>
            </a:pPr>
            <a:r>
              <a:rPr lang="en-US" dirty="0"/>
              <a:t>    and(</a:t>
            </a:r>
            <a:r>
              <a:rPr lang="en-US" dirty="0" err="1"/>
              <a:t>taxi_at</a:t>
            </a:r>
            <a:r>
              <a:rPr lang="en-US" dirty="0"/>
              <a:t>(L),</a:t>
            </a:r>
          </a:p>
          <a:p>
            <a:pPr marL="0" indent="0">
              <a:buNone/>
            </a:pPr>
            <a:r>
              <a:rPr lang="en-US" dirty="0"/>
              <a:t>        </a:t>
            </a:r>
            <a:r>
              <a:rPr lang="en-US" dirty="0" err="1"/>
              <a:t>request_to</a:t>
            </a:r>
            <a:r>
              <a:rPr lang="en-US" dirty="0"/>
              <a:t>(P, L)))).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110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FB86-5FFD-8A24-EF6B-09965235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Exogenous</a:t>
            </a:r>
            <a:r>
              <a:rPr lang="it-IT" dirty="0"/>
              <a:t> 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D1C17-3036-E326-7CEB-B38D2D6F5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added</a:t>
            </a:r>
            <a:r>
              <a:rPr lang="it-IT" dirty="0"/>
              <a:t> </a:t>
            </a:r>
            <a:r>
              <a:rPr lang="it-IT" dirty="0" err="1"/>
              <a:t>three</a:t>
            </a:r>
            <a:r>
              <a:rPr lang="it-IT" dirty="0"/>
              <a:t> </a:t>
            </a:r>
            <a:r>
              <a:rPr lang="it-IT" dirty="0" err="1"/>
              <a:t>exogenous</a:t>
            </a:r>
            <a:r>
              <a:rPr lang="it-IT" dirty="0"/>
              <a:t> actions to test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reactive</a:t>
            </a:r>
            <a:r>
              <a:rPr lang="it-IT" dirty="0"/>
              <a:t> controller:</a:t>
            </a:r>
          </a:p>
          <a:p>
            <a:r>
              <a:rPr lang="it-IT" dirty="0" err="1"/>
              <a:t>move_p</a:t>
            </a:r>
            <a:r>
              <a:rPr lang="it-IT" dirty="0"/>
              <a:t>: </a:t>
            </a:r>
            <a:r>
              <a:rPr lang="it-IT" dirty="0" err="1"/>
              <a:t>moves</a:t>
            </a:r>
            <a:r>
              <a:rPr lang="it-IT" dirty="0"/>
              <a:t> a </a:t>
            </a:r>
            <a:r>
              <a:rPr lang="it-IT" dirty="0" err="1"/>
              <a:t>passenger</a:t>
            </a:r>
            <a:r>
              <a:rPr lang="it-IT" dirty="0"/>
              <a:t> from </a:t>
            </a:r>
            <a:r>
              <a:rPr lang="it-IT" dirty="0" err="1"/>
              <a:t>its</a:t>
            </a:r>
            <a:r>
              <a:rPr lang="it-IT" dirty="0"/>
              <a:t> location to </a:t>
            </a:r>
            <a:r>
              <a:rPr lang="it-IT" dirty="0" err="1"/>
              <a:t>another</a:t>
            </a:r>
            <a:r>
              <a:rPr lang="it-IT" dirty="0"/>
              <a:t>.</a:t>
            </a:r>
          </a:p>
          <a:p>
            <a:r>
              <a:rPr lang="it-IT" dirty="0"/>
              <a:t>call: </a:t>
            </a:r>
            <a:r>
              <a:rPr lang="it-IT" dirty="0" err="1"/>
              <a:t>creates</a:t>
            </a:r>
            <a:r>
              <a:rPr lang="it-IT" dirty="0"/>
              <a:t> a new </a:t>
            </a:r>
            <a:r>
              <a:rPr lang="it-IT" dirty="0" err="1"/>
              <a:t>request</a:t>
            </a:r>
            <a:r>
              <a:rPr lang="it-IT" dirty="0"/>
              <a:t>, </a:t>
            </a:r>
            <a:r>
              <a:rPr lang="it-IT" dirty="0" err="1"/>
              <a:t>deleting</a:t>
            </a:r>
            <a:r>
              <a:rPr lang="it-IT" dirty="0"/>
              <a:t> the </a:t>
            </a:r>
            <a:r>
              <a:rPr lang="it-IT" dirty="0" err="1"/>
              <a:t>old</a:t>
            </a:r>
            <a:r>
              <a:rPr lang="it-IT" dirty="0"/>
              <a:t> one from the </a:t>
            </a:r>
            <a:r>
              <a:rPr lang="it-IT" dirty="0" err="1"/>
              <a:t>same</a:t>
            </a:r>
            <a:r>
              <a:rPr lang="it-IT" dirty="0"/>
              <a:t> </a:t>
            </a:r>
            <a:r>
              <a:rPr lang="it-IT" dirty="0" err="1"/>
              <a:t>passenger</a:t>
            </a:r>
            <a:r>
              <a:rPr lang="it-IT" dirty="0"/>
              <a:t>.</a:t>
            </a:r>
          </a:p>
          <a:p>
            <a:r>
              <a:rPr lang="it-IT" dirty="0"/>
              <a:t>start/end: makes a location </a:t>
            </a:r>
            <a:r>
              <a:rPr lang="it-IT" dirty="0" err="1"/>
              <a:t>congested</a:t>
            </a:r>
            <a:r>
              <a:rPr lang="it-IT" dirty="0"/>
              <a:t> or makes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507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0F2D-BE2E-4767-94EB-D20E61B3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Legality</a:t>
            </a:r>
            <a:r>
              <a:rPr lang="it-IT" dirty="0"/>
              <a:t> task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77E88-1A30-F475-E7DD-D74D09F59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To test the domain,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selected</a:t>
            </a:r>
            <a:r>
              <a:rPr lang="it-IT" dirty="0"/>
              <a:t> a </a:t>
            </a:r>
            <a:r>
              <a:rPr lang="it-IT" dirty="0" err="1"/>
              <a:t>series</a:t>
            </a:r>
            <a:r>
              <a:rPr lang="it-IT" dirty="0"/>
              <a:t> of actions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imput</a:t>
            </a:r>
            <a:r>
              <a:rPr lang="it-IT" dirty="0"/>
              <a:t> to the </a:t>
            </a:r>
            <a:r>
              <a:rPr lang="it-IT" dirty="0" err="1"/>
              <a:t>legality</a:t>
            </a:r>
            <a:r>
              <a:rPr lang="it-IT" dirty="0"/>
              <a:t> task, to check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executability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The task:</a:t>
            </a:r>
            <a:br>
              <a:rPr lang="it-IT" dirty="0"/>
            </a:br>
            <a:r>
              <a:rPr lang="en-US" dirty="0"/>
              <a:t>[move(park1, restaurant), move(restaurant, school), </a:t>
            </a:r>
            <a:r>
              <a:rPr lang="en-US" dirty="0" err="1"/>
              <a:t>pickUp</a:t>
            </a:r>
            <a:r>
              <a:rPr lang="en-US" dirty="0"/>
              <a:t>(p2, school), move(school, restaurant), </a:t>
            </a:r>
            <a:r>
              <a:rPr lang="en-US" dirty="0" err="1"/>
              <a:t>getOff</a:t>
            </a:r>
            <a:r>
              <a:rPr lang="en-US" dirty="0"/>
              <a:t>(p2, restaurant)].</a:t>
            </a:r>
          </a:p>
          <a:p>
            <a:pPr marL="0" indent="0">
              <a:buNone/>
            </a:pPr>
            <a:r>
              <a:rPr lang="en-US" dirty="0"/>
              <a:t>proved legal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6327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TM02892315[[fn=Filo]]</Template>
  <TotalTime>0</TotalTime>
  <Words>2518</Words>
  <Application>Microsoft Office PowerPoint</Application>
  <PresentationFormat>Widescreen</PresentationFormat>
  <Paragraphs>462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Tema di Office</vt:lpstr>
      <vt:lpstr>Taxi Planning </vt:lpstr>
      <vt:lpstr>Domain</vt:lpstr>
      <vt:lpstr>PDDL</vt:lpstr>
      <vt:lpstr>PowerPoint Presentation</vt:lpstr>
      <vt:lpstr>Actions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h_add and h_max</vt:lpstr>
      <vt:lpstr>Problem 1</vt:lpstr>
      <vt:lpstr>Problem 2</vt:lpstr>
      <vt:lpstr>Problem 3</vt:lpstr>
      <vt:lpstr>Indigolog</vt:lpstr>
      <vt:lpstr>Relational and functional fluents</vt:lpstr>
      <vt:lpstr>Actions</vt:lpstr>
      <vt:lpstr>Exogenous actions</vt:lpstr>
      <vt:lpstr>Legality 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Giovanni Di Nola</cp:lastModifiedBy>
  <cp:revision>4</cp:revision>
  <dcterms:created xsi:type="dcterms:W3CDTF">2026-02-10T18:32:19Z</dcterms:created>
  <dcterms:modified xsi:type="dcterms:W3CDTF">2026-02-11T20:05:10Z</dcterms:modified>
</cp:coreProperties>
</file>